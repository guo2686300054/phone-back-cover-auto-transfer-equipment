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84" r:id="rId27"/>
  </p:sldIdLst>
  <p:sldSz cx="12192000" cy="6858000"/>
  <p:notesSz cx="6858000" cy="12192000"/>
  <p:embeddedFontLst>
    <p:embeddedFont>
      <p:font typeface="MiSans" pitchFamily="50" charset="-122"/>
      <p:regular r:id="rId29"/>
    </p:embeddedFont>
    <p:embeddedFont>
      <p:font typeface="Noto Sans SC" panose="020B0200000000000000" pitchFamily="34" charset="-122"/>
      <p:regular r:id="rId30"/>
      <p:bold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74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3"/>
          <a:srcRect l="2846" t="2254" r="3013" b="8961"/>
          <a:stretch/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7120" y="1368416"/>
            <a:ext cx="9362660" cy="31393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多适配智能型手机后盖自动化移栽设备研发与产业化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90595" y="4424045"/>
            <a:ext cx="231140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55670" y="4476115"/>
            <a:ext cx="2385695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汇报人:Kimi 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46165" y="4424045"/>
            <a:ext cx="231140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11240" y="4476115"/>
            <a:ext cx="238569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时间:2025/01/1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93745" y="472817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93745" y="4728174"/>
            <a:ext cx="1141923" cy="72329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230150" y="156968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0230150" y="1569684"/>
            <a:ext cx="1141923" cy="72329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835" y="4125595"/>
            <a:ext cx="6468110" cy="29845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25000"/>
          </a:blip>
          <a:srcRect t="22162"/>
          <a:stretch/>
        </p:blipFill>
        <p:spPr>
          <a:xfrm>
            <a:off x="9529018" y="2901234"/>
            <a:ext cx="2311400" cy="18002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5" y="995045"/>
            <a:ext cx="3658870" cy="365887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 flipV="1">
            <a:off x="6951345" y="1617345"/>
            <a:ext cx="6858635" cy="36233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10260" y="704850"/>
            <a:ext cx="2698115" cy="11080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810260" y="704850"/>
            <a:ext cx="2698115" cy="1108075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>
              <a:lnSpc>
                <a:spcPct val="100000"/>
              </a:lnSpc>
            </a:pPr>
            <a:r>
              <a:rPr lang="en-US" sz="6600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848610" y="1078865"/>
            <a:ext cx="2884805" cy="499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5DBB">
                    <a:alpha val="5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977376" y="2055495"/>
            <a:ext cx="692341" cy="660400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977376" y="2055495"/>
            <a:ext cx="692341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782458" y="2055495"/>
            <a:ext cx="5462239" cy="6604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1782458" y="2055495"/>
            <a:ext cx="5462239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977376" y="2922905"/>
            <a:ext cx="692341" cy="660400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977376" y="2922905"/>
            <a:ext cx="692341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782458" y="2922905"/>
            <a:ext cx="5462239" cy="6604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1782458" y="2922905"/>
            <a:ext cx="5462239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977376" y="3790315"/>
            <a:ext cx="692341" cy="660400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977376" y="3790315"/>
            <a:ext cx="692341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782458" y="3790315"/>
            <a:ext cx="5462239" cy="6604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1782458" y="3790315"/>
            <a:ext cx="5462239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977376" y="4657725"/>
            <a:ext cx="692341" cy="660400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977376" y="4657725"/>
            <a:ext cx="692341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782457" y="4657725"/>
            <a:ext cx="5462240" cy="6604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1782457" y="4657725"/>
            <a:ext cx="5462240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977376" y="5525135"/>
            <a:ext cx="692341" cy="660400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0"/>
          <p:cNvSpPr/>
          <p:nvPr/>
        </p:nvSpPr>
        <p:spPr>
          <a:xfrm>
            <a:off x="977376" y="5525135"/>
            <a:ext cx="692341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1782458" y="5525135"/>
            <a:ext cx="5462239" cy="6604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1782458" y="5525135"/>
            <a:ext cx="5462239" cy="660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163100" y="70481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7163100" y="704814"/>
            <a:ext cx="1141923" cy="72329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9965355" y="5226649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CFC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6"/>
          <p:cNvSpPr/>
          <p:nvPr/>
        </p:nvSpPr>
        <p:spPr>
          <a:xfrm>
            <a:off x="9965355" y="5226649"/>
            <a:ext cx="1141923" cy="72329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1" name="Image 2" descr="https://kimi-img.moonshot.cn/pub/slides/slides_tmpl/image/25-09-08-12:55:42-d2v63jlnfo2stf9dk4s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8195" y="1015365"/>
            <a:ext cx="3432175" cy="357251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88302" y="2141816"/>
            <a:ext cx="656085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1875829" y="2209573"/>
            <a:ext cx="5185601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988302" y="3009226"/>
            <a:ext cx="656085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1875829" y="3076983"/>
            <a:ext cx="5184608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产品方案与技术创新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988302" y="3876636"/>
            <a:ext cx="656085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1875829" y="3937432"/>
            <a:ext cx="5184608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商业模式与盈利路径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918770" y="4744046"/>
            <a:ext cx="793659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1875829" y="4804842"/>
            <a:ext cx="518460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团队与发展路径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988302" y="5611456"/>
            <a:ext cx="656085" cy="429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1875829" y="5679213"/>
            <a:ext cx="518460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财务分析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309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8750" y="15748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后盖生产瓶颈：人工移栽成效率短板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1873250" y="2235200"/>
            <a:ext cx="844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在手机后盖“钻孔→移栽”关键工序中，传统人工方式已成为制约产线效率、品质与成本的三大核心痛点。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54000" y="2798417"/>
            <a:ext cx="3695700" cy="2286000"/>
          </a:xfrm>
          <a:custGeom>
            <a:avLst/>
            <a:gdLst/>
            <a:ahLst/>
            <a:cxnLst/>
            <a:rect l="l" t="t" r="r" b="b"/>
            <a:pathLst>
              <a:path w="3695700" h="2286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184410"/>
                </a:lnTo>
                <a:cubicBezTo>
                  <a:pt x="3695700" y="2240517"/>
                  <a:pt x="3650217" y="2286000"/>
                  <a:pt x="35941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1813983" y="3022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1434685" y="2900018"/>
            <a:ext cx="1330095" cy="367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效率低下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408516" y="3576652"/>
            <a:ext cx="337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单件耗时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15-20秒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，UPH不足240件，仅为前序工序的70%，导致设备稼动率低于70%。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46033" y="2971800"/>
            <a:ext cx="3695700" cy="2286000"/>
          </a:xfrm>
          <a:custGeom>
            <a:avLst/>
            <a:gdLst/>
            <a:ahLst/>
            <a:cxnLst/>
            <a:rect l="l" t="t" r="r" b="b"/>
            <a:pathLst>
              <a:path w="3695700" h="2286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184410"/>
                </a:lnTo>
                <a:cubicBezTo>
                  <a:pt x="3695700" y="2240517"/>
                  <a:pt x="3650217" y="2286000"/>
                  <a:pt x="35941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7"/>
          <p:cNvSpPr/>
          <p:nvPr/>
        </p:nvSpPr>
        <p:spPr>
          <a:xfrm>
            <a:off x="5810250" y="3225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5449127" y="3103217"/>
            <a:ext cx="123318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品质不稳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455400" y="3683000"/>
            <a:ext cx="337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人工抓取易致划伤变形，良率仅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88-92%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。按30万件月产计，年报废损失超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50万元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246534" y="2794000"/>
            <a:ext cx="3695700" cy="2286000"/>
          </a:xfrm>
          <a:custGeom>
            <a:avLst/>
            <a:gdLst/>
            <a:ahLst/>
            <a:cxnLst/>
            <a:rect l="l" t="t" r="r" b="b"/>
            <a:pathLst>
              <a:path w="3695700" h="2286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184410"/>
                </a:lnTo>
                <a:cubicBezTo>
                  <a:pt x="3695700" y="2240517"/>
                  <a:pt x="3650217" y="2286000"/>
                  <a:pt x="35941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9806517" y="3022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9505950" y="2901121"/>
            <a:ext cx="128224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成本高昂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457970" y="3542417"/>
            <a:ext cx="337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人工成本年均上涨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8-10%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，单条产线年人工支出超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25万元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，且熟练度差异增加管理难度。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0956" y="354661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市场需求洞察：中小厂商的自动化呼声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750956" y="913461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2025年3-4月，团队走访长三角、珠三角32家月产10-50万件的后盖工厂，调研结果量化客户核心诉求，验证产品定义。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928686" y="1505281"/>
            <a:ext cx="6883400" cy="457200"/>
          </a:xfrm>
          <a:custGeom>
            <a:avLst/>
            <a:gdLst/>
            <a:ahLst/>
            <a:cxnLst/>
            <a:rect l="l" t="t" r="r" b="b"/>
            <a:pathLst>
              <a:path w="6883400" h="457200">
                <a:moveTo>
                  <a:pt x="76202" y="0"/>
                </a:moveTo>
                <a:lnTo>
                  <a:pt x="6807198" y="0"/>
                </a:lnTo>
                <a:cubicBezTo>
                  <a:pt x="6849283" y="0"/>
                  <a:pt x="6883400" y="34117"/>
                  <a:pt x="6883400" y="76202"/>
                </a:cubicBezTo>
                <a:lnTo>
                  <a:pt x="6883400" y="380998"/>
                </a:lnTo>
                <a:cubicBezTo>
                  <a:pt x="6883400" y="423083"/>
                  <a:pt x="6849283" y="457200"/>
                  <a:pt x="68071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2030286" y="1606881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设备适配性 (多型号快速换型)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372900" y="1670381"/>
            <a:ext cx="2857500" cy="127000"/>
          </a:xfrm>
          <a:custGeom>
            <a:avLst/>
            <a:gdLst/>
            <a:ahLst/>
            <a:cxnLst/>
            <a:rect l="l" t="t" r="r" b="b"/>
            <a:pathLst>
              <a:path w="2857500" h="127000">
                <a:moveTo>
                  <a:pt x="63500" y="0"/>
                </a:moveTo>
                <a:lnTo>
                  <a:pt x="2794000" y="0"/>
                </a:lnTo>
                <a:cubicBezTo>
                  <a:pt x="2829047" y="0"/>
                  <a:pt x="2857500" y="28453"/>
                  <a:pt x="2857500" y="63500"/>
                </a:cubicBezTo>
                <a:lnTo>
                  <a:pt x="2857500" y="63500"/>
                </a:lnTo>
                <a:cubicBezTo>
                  <a:pt x="2857500" y="98547"/>
                  <a:pt x="2829047" y="127000"/>
                  <a:pt x="27940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A8D0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/>
        </p:nvSpPr>
        <p:spPr>
          <a:xfrm>
            <a:off x="5372900" y="1670381"/>
            <a:ext cx="2628900" cy="127000"/>
          </a:xfrm>
          <a:custGeom>
            <a:avLst/>
            <a:gdLst/>
            <a:ahLst/>
            <a:cxnLst/>
            <a:rect l="l" t="t" r="r" b="b"/>
            <a:pathLst>
              <a:path w="2628900" h="127000">
                <a:moveTo>
                  <a:pt x="63500" y="0"/>
                </a:moveTo>
                <a:lnTo>
                  <a:pt x="2565400" y="0"/>
                </a:lnTo>
                <a:cubicBezTo>
                  <a:pt x="2600447" y="0"/>
                  <a:pt x="2628900" y="28453"/>
                  <a:pt x="2628900" y="63500"/>
                </a:cubicBezTo>
                <a:lnTo>
                  <a:pt x="2628900" y="63500"/>
                </a:lnTo>
                <a:cubicBezTo>
                  <a:pt x="2628900" y="98547"/>
                  <a:pt x="2600447" y="127000"/>
                  <a:pt x="25654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8334381" y="1606881"/>
            <a:ext cx="46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92%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928686" y="2572081"/>
            <a:ext cx="6883400" cy="457200"/>
          </a:xfrm>
          <a:custGeom>
            <a:avLst/>
            <a:gdLst/>
            <a:ahLst/>
            <a:cxnLst/>
            <a:rect l="l" t="t" r="r" b="b"/>
            <a:pathLst>
              <a:path w="6883400" h="457200">
                <a:moveTo>
                  <a:pt x="76202" y="0"/>
                </a:moveTo>
                <a:lnTo>
                  <a:pt x="6807198" y="0"/>
                </a:lnTo>
                <a:cubicBezTo>
                  <a:pt x="6849283" y="0"/>
                  <a:pt x="6883400" y="34117"/>
                  <a:pt x="6883400" y="76202"/>
                </a:cubicBezTo>
                <a:lnTo>
                  <a:pt x="6883400" y="380998"/>
                </a:lnTo>
                <a:cubicBezTo>
                  <a:pt x="6883400" y="423083"/>
                  <a:pt x="6849283" y="457200"/>
                  <a:pt x="68071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2030286" y="2673681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精度要求 (移栽定位精度)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372900" y="2737181"/>
            <a:ext cx="2755900" cy="127000"/>
          </a:xfrm>
          <a:custGeom>
            <a:avLst/>
            <a:gdLst/>
            <a:ahLst/>
            <a:cxnLst/>
            <a:rect l="l" t="t" r="r" b="b"/>
            <a:pathLst>
              <a:path w="2755900" h="127000">
                <a:moveTo>
                  <a:pt x="63500" y="0"/>
                </a:moveTo>
                <a:lnTo>
                  <a:pt x="2692400" y="0"/>
                </a:lnTo>
                <a:cubicBezTo>
                  <a:pt x="2727447" y="0"/>
                  <a:pt x="2755900" y="28453"/>
                  <a:pt x="2755900" y="63500"/>
                </a:cubicBezTo>
                <a:lnTo>
                  <a:pt x="2755900" y="63500"/>
                </a:lnTo>
                <a:cubicBezTo>
                  <a:pt x="2755900" y="98547"/>
                  <a:pt x="2727447" y="127000"/>
                  <a:pt x="26924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A8D0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0"/>
          <p:cNvSpPr/>
          <p:nvPr/>
        </p:nvSpPr>
        <p:spPr>
          <a:xfrm>
            <a:off x="5372900" y="2737181"/>
            <a:ext cx="2755900" cy="127000"/>
          </a:xfrm>
          <a:custGeom>
            <a:avLst/>
            <a:gdLst/>
            <a:ahLst/>
            <a:cxnLst/>
            <a:rect l="l" t="t" r="r" b="b"/>
            <a:pathLst>
              <a:path w="2755900" h="127000">
                <a:moveTo>
                  <a:pt x="63500" y="0"/>
                </a:moveTo>
                <a:lnTo>
                  <a:pt x="2692400" y="0"/>
                </a:lnTo>
                <a:cubicBezTo>
                  <a:pt x="2727447" y="0"/>
                  <a:pt x="2755900" y="28453"/>
                  <a:pt x="2755900" y="63500"/>
                </a:cubicBezTo>
                <a:lnTo>
                  <a:pt x="2755900" y="63500"/>
                </a:lnTo>
                <a:cubicBezTo>
                  <a:pt x="2755900" y="98547"/>
                  <a:pt x="2727447" y="127000"/>
                  <a:pt x="26924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8229474" y="2673681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928686" y="3638881"/>
            <a:ext cx="6883400" cy="457200"/>
          </a:xfrm>
          <a:custGeom>
            <a:avLst/>
            <a:gdLst/>
            <a:ahLst/>
            <a:cxnLst/>
            <a:rect l="l" t="t" r="r" b="b"/>
            <a:pathLst>
              <a:path w="6883400" h="457200">
                <a:moveTo>
                  <a:pt x="76202" y="0"/>
                </a:moveTo>
                <a:lnTo>
                  <a:pt x="6807198" y="0"/>
                </a:lnTo>
                <a:cubicBezTo>
                  <a:pt x="6849283" y="0"/>
                  <a:pt x="6883400" y="34117"/>
                  <a:pt x="6883400" y="76202"/>
                </a:cubicBezTo>
                <a:lnTo>
                  <a:pt x="6883400" y="380998"/>
                </a:lnTo>
                <a:cubicBezTo>
                  <a:pt x="6883400" y="423083"/>
                  <a:pt x="6849283" y="457200"/>
                  <a:pt x="68071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2030286" y="3740481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成本控制 (设备采购预算)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372900" y="3803981"/>
            <a:ext cx="2857500" cy="127000"/>
          </a:xfrm>
          <a:custGeom>
            <a:avLst/>
            <a:gdLst/>
            <a:ahLst/>
            <a:cxnLst/>
            <a:rect l="l" t="t" r="r" b="b"/>
            <a:pathLst>
              <a:path w="2857500" h="127000">
                <a:moveTo>
                  <a:pt x="63500" y="0"/>
                </a:moveTo>
                <a:lnTo>
                  <a:pt x="2794000" y="0"/>
                </a:lnTo>
                <a:cubicBezTo>
                  <a:pt x="2829047" y="0"/>
                  <a:pt x="2857500" y="28453"/>
                  <a:pt x="2857500" y="63500"/>
                </a:cubicBezTo>
                <a:lnTo>
                  <a:pt x="2857500" y="63500"/>
                </a:lnTo>
                <a:cubicBezTo>
                  <a:pt x="2857500" y="98547"/>
                  <a:pt x="2829047" y="127000"/>
                  <a:pt x="27940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A8D0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5372900" y="3803981"/>
            <a:ext cx="2514600" cy="127000"/>
          </a:xfrm>
          <a:custGeom>
            <a:avLst/>
            <a:gdLst/>
            <a:ahLst/>
            <a:cxnLst/>
            <a:rect l="l" t="t" r="r" b="b"/>
            <a:pathLst>
              <a:path w="2514600" h="127000">
                <a:moveTo>
                  <a:pt x="63500" y="0"/>
                </a:moveTo>
                <a:lnTo>
                  <a:pt x="2451100" y="0"/>
                </a:lnTo>
                <a:cubicBezTo>
                  <a:pt x="2486147" y="0"/>
                  <a:pt x="2514600" y="28453"/>
                  <a:pt x="2514600" y="63500"/>
                </a:cubicBezTo>
                <a:lnTo>
                  <a:pt x="2514600" y="63500"/>
                </a:lnTo>
                <a:cubicBezTo>
                  <a:pt x="2514600" y="98547"/>
                  <a:pt x="2486147" y="127000"/>
                  <a:pt x="24511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8334381" y="3740481"/>
            <a:ext cx="46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88%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928686" y="4705681"/>
            <a:ext cx="6883400" cy="457200"/>
          </a:xfrm>
          <a:custGeom>
            <a:avLst/>
            <a:gdLst/>
            <a:ahLst/>
            <a:cxnLst/>
            <a:rect l="l" t="t" r="r" b="b"/>
            <a:pathLst>
              <a:path w="6883400" h="457200">
                <a:moveTo>
                  <a:pt x="76202" y="0"/>
                </a:moveTo>
                <a:lnTo>
                  <a:pt x="6807198" y="0"/>
                </a:lnTo>
                <a:cubicBezTo>
                  <a:pt x="6849283" y="0"/>
                  <a:pt x="6883400" y="34117"/>
                  <a:pt x="6883400" y="76202"/>
                </a:cubicBezTo>
                <a:lnTo>
                  <a:pt x="6883400" y="380998"/>
                </a:lnTo>
                <a:cubicBezTo>
                  <a:pt x="6883400" y="423083"/>
                  <a:pt x="6849283" y="457200"/>
                  <a:pt x="68071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2030286" y="4807281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占地面积 (设备占地限制)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372900" y="4870781"/>
            <a:ext cx="2857500" cy="127000"/>
          </a:xfrm>
          <a:custGeom>
            <a:avLst/>
            <a:gdLst/>
            <a:ahLst/>
            <a:cxnLst/>
            <a:rect l="l" t="t" r="r" b="b"/>
            <a:pathLst>
              <a:path w="2857500" h="127000">
                <a:moveTo>
                  <a:pt x="63500" y="0"/>
                </a:moveTo>
                <a:lnTo>
                  <a:pt x="2794000" y="0"/>
                </a:lnTo>
                <a:cubicBezTo>
                  <a:pt x="2829047" y="0"/>
                  <a:pt x="2857500" y="28453"/>
                  <a:pt x="2857500" y="63500"/>
                </a:cubicBezTo>
                <a:lnTo>
                  <a:pt x="2857500" y="63500"/>
                </a:lnTo>
                <a:cubicBezTo>
                  <a:pt x="2857500" y="98547"/>
                  <a:pt x="2829047" y="127000"/>
                  <a:pt x="27940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A8D0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/>
        </p:nvSpPr>
        <p:spPr>
          <a:xfrm>
            <a:off x="5372900" y="4870781"/>
            <a:ext cx="2146300" cy="127000"/>
          </a:xfrm>
          <a:custGeom>
            <a:avLst/>
            <a:gdLst/>
            <a:ahLst/>
            <a:cxnLst/>
            <a:rect l="l" t="t" r="r" b="b"/>
            <a:pathLst>
              <a:path w="2146300" h="127000">
                <a:moveTo>
                  <a:pt x="63500" y="0"/>
                </a:moveTo>
                <a:lnTo>
                  <a:pt x="2082800" y="0"/>
                </a:lnTo>
                <a:cubicBezTo>
                  <a:pt x="2117847" y="0"/>
                  <a:pt x="2146300" y="28453"/>
                  <a:pt x="2146300" y="63500"/>
                </a:cubicBezTo>
                <a:lnTo>
                  <a:pt x="2146300" y="63500"/>
                </a:lnTo>
                <a:cubicBezTo>
                  <a:pt x="2146300" y="98547"/>
                  <a:pt x="2117847" y="127000"/>
                  <a:pt x="20828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8334381" y="4807281"/>
            <a:ext cx="46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75%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1928686" y="5772481"/>
            <a:ext cx="6883400" cy="457200"/>
          </a:xfrm>
          <a:custGeom>
            <a:avLst/>
            <a:gdLst/>
            <a:ahLst/>
            <a:cxnLst/>
            <a:rect l="l" t="t" r="r" b="b"/>
            <a:pathLst>
              <a:path w="6883400" h="457200">
                <a:moveTo>
                  <a:pt x="76202" y="0"/>
                </a:moveTo>
                <a:lnTo>
                  <a:pt x="6807198" y="0"/>
                </a:lnTo>
                <a:cubicBezTo>
                  <a:pt x="6849283" y="0"/>
                  <a:pt x="6883400" y="34117"/>
                  <a:pt x="6883400" y="76202"/>
                </a:cubicBezTo>
                <a:lnTo>
                  <a:pt x="6883400" y="380998"/>
                </a:lnTo>
                <a:cubicBezTo>
                  <a:pt x="6883400" y="423083"/>
                  <a:pt x="6849283" y="457200"/>
                  <a:pt x="68071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3"/>
          <p:cNvSpPr/>
          <p:nvPr/>
        </p:nvSpPr>
        <p:spPr>
          <a:xfrm>
            <a:off x="2030286" y="5874081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操作难度 (工人培训周期)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372900" y="5937581"/>
            <a:ext cx="2857500" cy="127000"/>
          </a:xfrm>
          <a:custGeom>
            <a:avLst/>
            <a:gdLst/>
            <a:ahLst/>
            <a:cxnLst/>
            <a:rect l="l" t="t" r="r" b="b"/>
            <a:pathLst>
              <a:path w="2857500" h="127000">
                <a:moveTo>
                  <a:pt x="63500" y="0"/>
                </a:moveTo>
                <a:lnTo>
                  <a:pt x="2794000" y="0"/>
                </a:lnTo>
                <a:cubicBezTo>
                  <a:pt x="2829047" y="0"/>
                  <a:pt x="2857500" y="28453"/>
                  <a:pt x="2857500" y="63500"/>
                </a:cubicBezTo>
                <a:lnTo>
                  <a:pt x="2857500" y="63500"/>
                </a:lnTo>
                <a:cubicBezTo>
                  <a:pt x="2857500" y="98547"/>
                  <a:pt x="2829047" y="127000"/>
                  <a:pt x="27940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A8D0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5"/>
          <p:cNvSpPr/>
          <p:nvPr/>
        </p:nvSpPr>
        <p:spPr>
          <a:xfrm>
            <a:off x="5372900" y="5937581"/>
            <a:ext cx="2311400" cy="127000"/>
          </a:xfrm>
          <a:custGeom>
            <a:avLst/>
            <a:gdLst/>
            <a:ahLst/>
            <a:cxnLst/>
            <a:rect l="l" t="t" r="r" b="b"/>
            <a:pathLst>
              <a:path w="2311400" h="127000">
                <a:moveTo>
                  <a:pt x="63500" y="0"/>
                </a:moveTo>
                <a:lnTo>
                  <a:pt x="2247900" y="0"/>
                </a:lnTo>
                <a:cubicBezTo>
                  <a:pt x="2282947" y="0"/>
                  <a:pt x="2311400" y="28453"/>
                  <a:pt x="2311400" y="63500"/>
                </a:cubicBezTo>
                <a:lnTo>
                  <a:pt x="2311400" y="63500"/>
                </a:lnTo>
                <a:cubicBezTo>
                  <a:pt x="2311400" y="98547"/>
                  <a:pt x="2282947" y="127000"/>
                  <a:pt x="22479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6"/>
          <p:cNvSpPr/>
          <p:nvPr/>
        </p:nvSpPr>
        <p:spPr>
          <a:xfrm>
            <a:off x="8334381" y="5874081"/>
            <a:ext cx="46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81%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产品方案与技术创新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8750" y="1143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设计理念：十字核心，精准破局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045200" y="2006600"/>
            <a:ext cx="101600" cy="3251200"/>
          </a:xfrm>
          <a:custGeom>
            <a:avLst/>
            <a:gdLst/>
            <a:ahLst/>
            <a:cxnLst/>
            <a:rect l="l" t="t" r="r" b="b"/>
            <a:pathLst>
              <a:path w="101600" h="3251200">
                <a:moveTo>
                  <a:pt x="0" y="0"/>
                </a:moveTo>
                <a:lnTo>
                  <a:pt x="101600" y="0"/>
                </a:lnTo>
                <a:lnTo>
                  <a:pt x="1016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solidFill>
            <a:srgbClr val="3A7BD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254000" y="3581400"/>
            <a:ext cx="11684000" cy="101600"/>
          </a:xfrm>
          <a:custGeom>
            <a:avLst/>
            <a:gdLst/>
            <a:ahLst/>
            <a:cxnLst/>
            <a:rect l="l" t="t" r="r" b="b"/>
            <a:pathLst>
              <a:path w="11684000" h="101600">
                <a:moveTo>
                  <a:pt x="0" y="0"/>
                </a:moveTo>
                <a:lnTo>
                  <a:pt x="11684000" y="0"/>
                </a:lnTo>
                <a:lnTo>
                  <a:pt x="11684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3A7BD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2984500" y="2413000"/>
            <a:ext cx="256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柔性化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003550" y="2819400"/>
            <a:ext cx="252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机械可调+参数化程序，换型时间</a:t>
            </a:r>
            <a:r>
              <a:rPr lang="en-US" sz="1400" dirty="0">
                <a:solidFill>
                  <a:srgbClr val="4A4A4A"/>
                </a:solidFill>
                <a:highlight>
                  <a:srgbClr val="A8D0F5">
                    <a:alpha val="5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&lt;5分钟 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642100" y="2413000"/>
            <a:ext cx="256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高精度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661150" y="2819400"/>
            <a:ext cx="252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闭环补偿技术，定位精度达</a:t>
            </a:r>
            <a:r>
              <a:rPr lang="en-US" sz="1400" dirty="0">
                <a:solidFill>
                  <a:srgbClr val="4A4A4A"/>
                </a:solidFill>
                <a:highlight>
                  <a:srgbClr val="A8D0F5">
                    <a:alpha val="5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±0.1mm 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984500" y="3937000"/>
            <a:ext cx="256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小型化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003550" y="4343400"/>
            <a:ext cx="252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模块叠加布局，占地仅</a:t>
            </a:r>
            <a:r>
              <a:rPr lang="en-US" sz="1400" dirty="0">
                <a:solidFill>
                  <a:srgbClr val="4A4A4A"/>
                </a:solidFill>
                <a:highlight>
                  <a:srgbClr val="A8D0F5">
                    <a:alpha val="5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0.33㎡ 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，节省70%空间。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42100" y="3937000"/>
            <a:ext cx="256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低成本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61150" y="4343400"/>
            <a:ext cx="252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国产部件替代，售价</a:t>
            </a:r>
            <a:r>
              <a:rPr lang="en-US" sz="1400" dirty="0">
                <a:solidFill>
                  <a:srgbClr val="4A4A4A"/>
                </a:solidFill>
                <a:highlight>
                  <a:srgbClr val="A8D0F5">
                    <a:alpha val="5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≤8万元 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，为进口设备的1/3。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708650" y="3276600"/>
            <a:ext cx="774700" cy="711200"/>
          </a:xfrm>
          <a:custGeom>
            <a:avLst/>
            <a:gdLst/>
            <a:ahLst/>
            <a:cxnLst/>
            <a:rect l="l" t="t" r="r" b="b"/>
            <a:pathLst>
              <a:path w="774700" h="711200">
                <a:moveTo>
                  <a:pt x="355600" y="0"/>
                </a:moveTo>
                <a:lnTo>
                  <a:pt x="419100" y="0"/>
                </a:lnTo>
                <a:cubicBezTo>
                  <a:pt x="615361" y="0"/>
                  <a:pt x="774700" y="159339"/>
                  <a:pt x="774700" y="355600"/>
                </a:cubicBezTo>
                <a:lnTo>
                  <a:pt x="774700" y="355600"/>
                </a:lnTo>
                <a:cubicBezTo>
                  <a:pt x="774700" y="551861"/>
                  <a:pt x="615361" y="711200"/>
                  <a:pt x="4191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5810250" y="3403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209550" y="54610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核心设计理念回应客户痛点，形成可量化、可验证的技术规格，为后续模块设计提供统一准则。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" y="384916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47650"/>
            <a:ext cx="588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整机架构：四模块协同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1051560" y="908050"/>
            <a:ext cx="577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设备采用模块化设计，划分为输送、取料移栽、控制、安全防护四大子系统，协同完成9秒高效循环。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54000" y="1625600"/>
            <a:ext cx="2768600" cy="1600200"/>
          </a:xfrm>
          <a:custGeom>
            <a:avLst/>
            <a:gdLst/>
            <a:ahLst/>
            <a:cxnLst/>
            <a:rect l="l" t="t" r="r" b="b"/>
            <a:pathLst>
              <a:path w="2768600" h="1600200">
                <a:moveTo>
                  <a:pt x="101597" y="0"/>
                </a:moveTo>
                <a:lnTo>
                  <a:pt x="2667003" y="0"/>
                </a:lnTo>
                <a:cubicBezTo>
                  <a:pt x="2723114" y="0"/>
                  <a:pt x="2768600" y="45486"/>
                  <a:pt x="2768600" y="101597"/>
                </a:cubicBezTo>
                <a:lnTo>
                  <a:pt x="2768600" y="1498603"/>
                </a:lnTo>
                <a:cubicBezTo>
                  <a:pt x="2768600" y="1554714"/>
                  <a:pt x="2723114" y="1600200"/>
                  <a:pt x="2667003" y="1600200"/>
                </a:cubicBezTo>
                <a:lnTo>
                  <a:pt x="101597" y="1600200"/>
                </a:lnTo>
                <a:cubicBezTo>
                  <a:pt x="45486" y="1600200"/>
                  <a:pt x="0" y="1554714"/>
                  <a:pt x="0" y="14986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498475" y="23410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498475" y="1870710"/>
            <a:ext cx="2209800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输送模块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zh-CN" alt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实现后盖的上料、钻孔位输送、下料，包含前序对接缓存区与下游对接输送线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175000" y="1625600"/>
            <a:ext cx="2768600" cy="1600200"/>
          </a:xfrm>
          <a:custGeom>
            <a:avLst/>
            <a:gdLst/>
            <a:ahLst/>
            <a:cxnLst/>
            <a:rect l="l" t="t" r="r" b="b"/>
            <a:pathLst>
              <a:path w="2768600" h="1600200">
                <a:moveTo>
                  <a:pt x="101597" y="0"/>
                </a:moveTo>
                <a:lnTo>
                  <a:pt x="2667003" y="0"/>
                </a:lnTo>
                <a:cubicBezTo>
                  <a:pt x="2723114" y="0"/>
                  <a:pt x="2768600" y="45486"/>
                  <a:pt x="2768600" y="101597"/>
                </a:cubicBezTo>
                <a:lnTo>
                  <a:pt x="2768600" y="1498603"/>
                </a:lnTo>
                <a:cubicBezTo>
                  <a:pt x="2768600" y="1554714"/>
                  <a:pt x="2723114" y="1600200"/>
                  <a:pt x="2667003" y="1600200"/>
                </a:cubicBezTo>
                <a:lnTo>
                  <a:pt x="101597" y="1600200"/>
                </a:lnTo>
                <a:cubicBezTo>
                  <a:pt x="45486" y="1600200"/>
                  <a:pt x="0" y="1554714"/>
                  <a:pt x="0" y="14986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6"/>
          <p:cNvSpPr/>
          <p:nvPr/>
        </p:nvSpPr>
        <p:spPr>
          <a:xfrm>
            <a:off x="3419475" y="23410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3533775" y="2059940"/>
            <a:ext cx="2111651" cy="645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取料移栽模块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zh-CN" altLang="en-US" sz="14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完成后盖的抓取、</a:t>
            </a:r>
            <a:r>
              <a:rPr lang="en-US" altLang="zh-CN" sz="14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X/Y/Z </a:t>
            </a:r>
            <a:r>
              <a:rPr lang="zh-CN" altLang="en-US" sz="14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轴移栽、</a:t>
            </a:r>
            <a:r>
              <a:rPr lang="en-US" altLang="zh-CN" sz="14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180°</a:t>
            </a:r>
            <a:r>
              <a:rPr lang="zh-CN" altLang="en-US" sz="14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旋转，是设备核心执行机构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54000" y="3378200"/>
            <a:ext cx="2768600" cy="1600200"/>
          </a:xfrm>
          <a:custGeom>
            <a:avLst/>
            <a:gdLst/>
            <a:ahLst/>
            <a:cxnLst/>
            <a:rect l="l" t="t" r="r" b="b"/>
            <a:pathLst>
              <a:path w="2768600" h="1600200">
                <a:moveTo>
                  <a:pt x="101597" y="0"/>
                </a:moveTo>
                <a:lnTo>
                  <a:pt x="2667003" y="0"/>
                </a:lnTo>
                <a:cubicBezTo>
                  <a:pt x="2723114" y="0"/>
                  <a:pt x="2768600" y="45486"/>
                  <a:pt x="2768600" y="101597"/>
                </a:cubicBezTo>
                <a:lnTo>
                  <a:pt x="2768600" y="1498603"/>
                </a:lnTo>
                <a:cubicBezTo>
                  <a:pt x="2768600" y="1554714"/>
                  <a:pt x="2723114" y="1600200"/>
                  <a:pt x="2667003" y="1600200"/>
                </a:cubicBezTo>
                <a:lnTo>
                  <a:pt x="101597" y="1600200"/>
                </a:lnTo>
                <a:cubicBezTo>
                  <a:pt x="45486" y="1600200"/>
                  <a:pt x="0" y="1554714"/>
                  <a:pt x="0" y="14986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498475" y="40936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516364" y="3665697"/>
            <a:ext cx="2163335" cy="11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控制模块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zh-CN" alt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接收传感器信号，控制各执行部件动作，实现手动</a:t>
            </a:r>
            <a:r>
              <a:rPr lang="en-US" altLang="zh-CN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r>
              <a:rPr lang="zh-CN" alt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自动模式切换与故障报警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3175000" y="3378200"/>
            <a:ext cx="2768600" cy="1600200"/>
          </a:xfrm>
          <a:custGeom>
            <a:avLst/>
            <a:gdLst/>
            <a:ahLst/>
            <a:cxnLst/>
            <a:rect l="l" t="t" r="r" b="b"/>
            <a:pathLst>
              <a:path w="2768600" h="1600200">
                <a:moveTo>
                  <a:pt x="101597" y="0"/>
                </a:moveTo>
                <a:lnTo>
                  <a:pt x="2667003" y="0"/>
                </a:lnTo>
                <a:cubicBezTo>
                  <a:pt x="2723114" y="0"/>
                  <a:pt x="2768600" y="45486"/>
                  <a:pt x="2768600" y="101597"/>
                </a:cubicBezTo>
                <a:lnTo>
                  <a:pt x="2768600" y="1498603"/>
                </a:lnTo>
                <a:cubicBezTo>
                  <a:pt x="2768600" y="1554714"/>
                  <a:pt x="2723114" y="1600200"/>
                  <a:pt x="2667003" y="1600200"/>
                </a:cubicBezTo>
                <a:lnTo>
                  <a:pt x="101597" y="1600200"/>
                </a:lnTo>
                <a:cubicBezTo>
                  <a:pt x="45486" y="1600200"/>
                  <a:pt x="0" y="1554714"/>
                  <a:pt x="0" y="14986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3419475" y="40936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3648074" y="3605530"/>
            <a:ext cx="1997351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安全防护模块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zh-CN" alt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保障操作人员安全，防止异物进入设备内部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254000" y="5181600"/>
            <a:ext cx="5689600" cy="1422400"/>
          </a:xfrm>
          <a:custGeom>
            <a:avLst/>
            <a:gdLst/>
            <a:ahLst/>
            <a:cxnLst/>
            <a:rect l="l" t="t" r="r" b="b"/>
            <a:pathLst>
              <a:path w="5689600" h="1422400">
                <a:moveTo>
                  <a:pt x="101602" y="0"/>
                </a:moveTo>
                <a:lnTo>
                  <a:pt x="5587998" y="0"/>
                </a:lnTo>
                <a:cubicBezTo>
                  <a:pt x="5644111" y="0"/>
                  <a:pt x="5689600" y="45489"/>
                  <a:pt x="5689600" y="101602"/>
                </a:cubicBezTo>
                <a:lnTo>
                  <a:pt x="5689600" y="1320798"/>
                </a:lnTo>
                <a:cubicBezTo>
                  <a:pt x="5689600" y="1376911"/>
                  <a:pt x="5644111" y="1422400"/>
                  <a:pt x="55879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406400" y="5384800"/>
            <a:ext cx="538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整机节拍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61950" y="5689600"/>
            <a:ext cx="5473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≤9秒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12750" y="6146800"/>
            <a:ext cx="537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UPH ≥ 400件，效率提升70%+</a:t>
            </a:r>
            <a:endParaRPr lang="en-US" sz="16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040D3E5-94AE-C34E-952B-F47DA7D1BA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060" y="1497173"/>
            <a:ext cx="4472741" cy="456596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5650" y="4826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输送模块：稳速精准对接前后工序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311900" y="1557867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6756400" y="1456267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皮带与驱动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756400" y="2065867"/>
            <a:ext cx="527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2mm PU平皮带，40W电机配1:20减速机，线速度0.5-2m/s可调，保证与前后工序同步。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6311900" y="3454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743700" y="3048000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导向与定位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756400" y="3657600"/>
            <a:ext cx="527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挡板间距60-120mm可调，适配不同宽度后盖；接近开关响应≤1ms，确保物料精准到位。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311900" y="5350933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6756400" y="4573877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缓存与对接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743700" y="5137997"/>
            <a:ext cx="527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300mm缓存区可存2-3片，减少前序停机；无缝对接设计，对接高度误差≤1mm。</a:t>
            </a:r>
            <a:endParaRPr 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59CDACF-5E17-72DC-362A-177921CE01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1109133"/>
            <a:ext cx="5549593" cy="509693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995" y="53467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取料移栽模块：真空吸附与多轴协同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254000" y="1879600"/>
            <a:ext cx="5689600" cy="1117600"/>
          </a:xfrm>
          <a:custGeom>
            <a:avLst/>
            <a:gdLst/>
            <a:ahLst/>
            <a:cxnLst/>
            <a:rect l="l" t="t" r="r" b="b"/>
            <a:pathLst>
              <a:path w="5689600" h="1117600">
                <a:moveTo>
                  <a:pt x="101601" y="0"/>
                </a:moveTo>
                <a:lnTo>
                  <a:pt x="5587999" y="0"/>
                </a:lnTo>
                <a:cubicBezTo>
                  <a:pt x="5644112" y="0"/>
                  <a:pt x="5689600" y="45488"/>
                  <a:pt x="5689600" y="101601"/>
                </a:cubicBezTo>
                <a:lnTo>
                  <a:pt x="5689600" y="1015999"/>
                </a:lnTo>
                <a:cubicBezTo>
                  <a:pt x="5689600" y="1072112"/>
                  <a:pt x="5644112" y="1117600"/>
                  <a:pt x="5587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406400" y="203200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真空吸附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06400" y="2336800"/>
            <a:ext cx="5473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双Φ30mm硅胶吸盘，真空度≤-0.08MPa，压力实时检测，确保零损伤抓取。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54000" y="3200400"/>
            <a:ext cx="5689600" cy="1117600"/>
          </a:xfrm>
          <a:custGeom>
            <a:avLst/>
            <a:gdLst/>
            <a:ahLst/>
            <a:cxnLst/>
            <a:rect l="l" t="t" r="r" b="b"/>
            <a:pathLst>
              <a:path w="5689600" h="1117600">
                <a:moveTo>
                  <a:pt x="101601" y="0"/>
                </a:moveTo>
                <a:lnTo>
                  <a:pt x="5587999" y="0"/>
                </a:lnTo>
                <a:cubicBezTo>
                  <a:pt x="5644112" y="0"/>
                  <a:pt x="5689600" y="45488"/>
                  <a:pt x="5689600" y="101601"/>
                </a:cubicBezTo>
                <a:lnTo>
                  <a:pt x="5689600" y="1015999"/>
                </a:lnTo>
                <a:cubicBezTo>
                  <a:pt x="5689600" y="1072112"/>
                  <a:pt x="5644112" y="1117600"/>
                  <a:pt x="5587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406400" y="335280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高精度驱动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06400" y="3657600"/>
            <a:ext cx="5473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X轴滚珠丝杠重复定位±0.01mm；Y/Z轴薄型气缸带导杆防转；R轴旋转误差≤0.5°。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54000" y="4521200"/>
            <a:ext cx="5689600" cy="1117600"/>
          </a:xfrm>
          <a:custGeom>
            <a:avLst/>
            <a:gdLst/>
            <a:ahLst/>
            <a:cxnLst/>
            <a:rect l="l" t="t" r="r" b="b"/>
            <a:pathLst>
              <a:path w="5689600" h="1117600">
                <a:moveTo>
                  <a:pt x="101601" y="0"/>
                </a:moveTo>
                <a:lnTo>
                  <a:pt x="5587999" y="0"/>
                </a:lnTo>
                <a:cubicBezTo>
                  <a:pt x="5644112" y="0"/>
                  <a:pt x="5689600" y="45488"/>
                  <a:pt x="5689600" y="101601"/>
                </a:cubicBezTo>
                <a:lnTo>
                  <a:pt x="5689600" y="1015999"/>
                </a:lnTo>
                <a:cubicBezTo>
                  <a:pt x="5689600" y="1072112"/>
                  <a:pt x="5644112" y="1117600"/>
                  <a:pt x="5587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406400" y="467360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多轴协同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06400" y="4978400"/>
            <a:ext cx="5473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PLC周期2ms内完成误差补偿解算，确保整体移栽定位精度达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±0.1mm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pic>
        <p:nvPicPr>
          <p:cNvPr id="17" name="图片 16" descr="图示&#10;&#10;AI 生成的内容可能不正确。">
            <a:extLst>
              <a:ext uri="{FF2B5EF4-FFF2-40B4-BE49-F238E27FC236}">
                <a16:creationId xmlns:a16="http://schemas.microsoft.com/office/drawing/2014/main" id="{9F22482B-B86E-6244-5399-4D79916683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837" y="1365042"/>
            <a:ext cx="5406059" cy="449621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9125" y="498779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控制模块：西门子PLC+HMI全栈方案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248400" y="2311400"/>
            <a:ext cx="5689600" cy="457200"/>
          </a:xfrm>
          <a:custGeom>
            <a:avLst/>
            <a:gdLst/>
            <a:ahLst/>
            <a:cxnLst/>
            <a:rect l="l" t="t" r="r" b="b"/>
            <a:pathLst>
              <a:path w="5689600" h="457200">
                <a:moveTo>
                  <a:pt x="76202" y="0"/>
                </a:moveTo>
                <a:lnTo>
                  <a:pt x="5613398" y="0"/>
                </a:lnTo>
                <a:cubicBezTo>
                  <a:pt x="5655483" y="0"/>
                  <a:pt x="5689600" y="34117"/>
                  <a:pt x="5689600" y="76202"/>
                </a:cubicBezTo>
                <a:lnTo>
                  <a:pt x="5689600" y="380998"/>
                </a:lnTo>
                <a:cubicBezTo>
                  <a:pt x="5689600" y="423083"/>
                  <a:pt x="5655483" y="457200"/>
                  <a:pt x="56133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6442075" y="24553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6756400" y="24130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核心控制器: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西门子S7-200SMART ST30，稳定可靠。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248400" y="2921000"/>
            <a:ext cx="5689600" cy="457200"/>
          </a:xfrm>
          <a:custGeom>
            <a:avLst/>
            <a:gdLst/>
            <a:ahLst/>
            <a:cxnLst/>
            <a:rect l="l" t="t" r="r" b="b"/>
            <a:pathLst>
              <a:path w="5689600" h="457200">
                <a:moveTo>
                  <a:pt x="76202" y="0"/>
                </a:moveTo>
                <a:lnTo>
                  <a:pt x="5613398" y="0"/>
                </a:lnTo>
                <a:cubicBezTo>
                  <a:pt x="5655483" y="0"/>
                  <a:pt x="5689600" y="34117"/>
                  <a:pt x="5689600" y="76202"/>
                </a:cubicBezTo>
                <a:lnTo>
                  <a:pt x="5689600" y="380998"/>
                </a:lnTo>
                <a:cubicBezTo>
                  <a:pt x="5689600" y="423083"/>
                  <a:pt x="5655483" y="457200"/>
                  <a:pt x="56133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/>
        </p:nvSpPr>
        <p:spPr>
          <a:xfrm>
            <a:off x="6442075" y="30649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6756400" y="3022600"/>
            <a:ext cx="392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人机交互: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威纶通触摸屏，界面直观，支持中文。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48400" y="3530600"/>
            <a:ext cx="5689600" cy="457200"/>
          </a:xfrm>
          <a:custGeom>
            <a:avLst/>
            <a:gdLst/>
            <a:ahLst/>
            <a:cxnLst/>
            <a:rect l="l" t="t" r="r" b="b"/>
            <a:pathLst>
              <a:path w="5689600" h="457200">
                <a:moveTo>
                  <a:pt x="76202" y="0"/>
                </a:moveTo>
                <a:lnTo>
                  <a:pt x="5613398" y="0"/>
                </a:lnTo>
                <a:cubicBezTo>
                  <a:pt x="5655483" y="0"/>
                  <a:pt x="5689600" y="34117"/>
                  <a:pt x="5689600" y="76202"/>
                </a:cubicBezTo>
                <a:lnTo>
                  <a:pt x="5689600" y="380998"/>
                </a:lnTo>
                <a:cubicBezTo>
                  <a:pt x="5689600" y="423083"/>
                  <a:pt x="5655483" y="457200"/>
                  <a:pt x="56133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6442075" y="36745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6756400" y="3632200"/>
            <a:ext cx="320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软件架构: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结构化编程，扫描周期2ms。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48400" y="4140200"/>
            <a:ext cx="5689600" cy="457200"/>
          </a:xfrm>
          <a:custGeom>
            <a:avLst/>
            <a:gdLst/>
            <a:ahLst/>
            <a:cxnLst/>
            <a:rect l="l" t="t" r="r" b="b"/>
            <a:pathLst>
              <a:path w="5689600" h="457200">
                <a:moveTo>
                  <a:pt x="76202" y="0"/>
                </a:moveTo>
                <a:lnTo>
                  <a:pt x="5613398" y="0"/>
                </a:lnTo>
                <a:cubicBezTo>
                  <a:pt x="5655483" y="0"/>
                  <a:pt x="5689600" y="34117"/>
                  <a:pt x="5689600" y="76202"/>
                </a:cubicBezTo>
                <a:lnTo>
                  <a:pt x="5689600" y="380998"/>
                </a:lnTo>
                <a:cubicBezTo>
                  <a:pt x="5689600" y="423083"/>
                  <a:pt x="5655483" y="457200"/>
                  <a:pt x="56133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6442075" y="42841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6756400" y="42418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参数管理: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关键参数可设定并断电保存。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248400" y="4749800"/>
            <a:ext cx="5689600" cy="457200"/>
          </a:xfrm>
          <a:custGeom>
            <a:avLst/>
            <a:gdLst/>
            <a:ahLst/>
            <a:cxnLst/>
            <a:rect l="l" t="t" r="r" b="b"/>
            <a:pathLst>
              <a:path w="5689600" h="457200">
                <a:moveTo>
                  <a:pt x="76202" y="0"/>
                </a:moveTo>
                <a:lnTo>
                  <a:pt x="5613398" y="0"/>
                </a:lnTo>
                <a:cubicBezTo>
                  <a:pt x="5655483" y="0"/>
                  <a:pt x="5689600" y="34117"/>
                  <a:pt x="5689600" y="76202"/>
                </a:cubicBezTo>
                <a:lnTo>
                  <a:pt x="5689600" y="380998"/>
                </a:lnTo>
                <a:cubicBezTo>
                  <a:pt x="5689600" y="423083"/>
                  <a:pt x="5655483" y="457200"/>
                  <a:pt x="56133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6442075" y="48937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6756400" y="4851400"/>
            <a:ext cx="339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电气安全: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IP54防护等级，线路国标分色。</a:t>
            </a:r>
            <a:endParaRPr lang="en-US" sz="1600" dirty="0"/>
          </a:p>
        </p:txBody>
      </p:sp>
      <p:pic>
        <p:nvPicPr>
          <p:cNvPr id="21" name="图片 20" descr="表格&#10;&#10;AI 生成的内容可能不正确。">
            <a:extLst>
              <a:ext uri="{FF2B5EF4-FFF2-40B4-BE49-F238E27FC236}">
                <a16:creationId xmlns:a16="http://schemas.microsoft.com/office/drawing/2014/main" id="{5A386EC7-7368-FA79-B2D6-93F2CC8FE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40" y="2019300"/>
            <a:ext cx="5986636" cy="36004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995" y="45593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安全与维护：三层防护零伤害设计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254000" y="1016000"/>
            <a:ext cx="3759200" cy="5029200"/>
          </a:xfrm>
          <a:custGeom>
            <a:avLst/>
            <a:gdLst/>
            <a:ahLst/>
            <a:cxnLst/>
            <a:rect l="l" t="t" r="r" b="b"/>
            <a:pathLst>
              <a:path w="3759200" h="50292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4927589"/>
                </a:lnTo>
                <a:cubicBezTo>
                  <a:pt x="3759200" y="4983707"/>
                  <a:pt x="3713707" y="5029200"/>
                  <a:pt x="3657589" y="5029200"/>
                </a:cubicBezTo>
                <a:lnTo>
                  <a:pt x="101611" y="5029200"/>
                </a:lnTo>
                <a:cubicBezTo>
                  <a:pt x="45493" y="5029200"/>
                  <a:pt x="0" y="4983707"/>
                  <a:pt x="0" y="49275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1847850" y="1244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562100" y="18796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机械防护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12750" y="2336800"/>
            <a:ext cx="3441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铝型材框架+亚克力防护板，前门安全联锁，开门即停，保障操作人员安全。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216400" y="1016000"/>
            <a:ext cx="3759200" cy="5029200"/>
          </a:xfrm>
          <a:custGeom>
            <a:avLst/>
            <a:gdLst/>
            <a:ahLst/>
            <a:cxnLst/>
            <a:rect l="l" t="t" r="r" b="b"/>
            <a:pathLst>
              <a:path w="3759200" h="50292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4927589"/>
                </a:lnTo>
                <a:cubicBezTo>
                  <a:pt x="3759200" y="4983707"/>
                  <a:pt x="3713707" y="5029200"/>
                  <a:pt x="3657589" y="5029200"/>
                </a:cubicBezTo>
                <a:lnTo>
                  <a:pt x="101611" y="5029200"/>
                </a:lnTo>
                <a:cubicBezTo>
                  <a:pt x="45493" y="5029200"/>
                  <a:pt x="0" y="4983707"/>
                  <a:pt x="0" y="49275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6"/>
          <p:cNvSpPr/>
          <p:nvPr/>
        </p:nvSpPr>
        <p:spPr>
          <a:xfrm>
            <a:off x="5810250" y="1244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524500" y="18796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电气安全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375150" y="2336800"/>
            <a:ext cx="3441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IP54电气柜，接地保护，急停按钮，安全光栅30ms内响应，防止夹伤。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78800" y="1016000"/>
            <a:ext cx="3759200" cy="5029200"/>
          </a:xfrm>
          <a:custGeom>
            <a:avLst/>
            <a:gdLst/>
            <a:ahLst/>
            <a:cxnLst/>
            <a:rect l="l" t="t" r="r" b="b"/>
            <a:pathLst>
              <a:path w="3759200" h="50292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4927589"/>
                </a:lnTo>
                <a:cubicBezTo>
                  <a:pt x="3759200" y="4983707"/>
                  <a:pt x="3713707" y="5029200"/>
                  <a:pt x="3657589" y="5029200"/>
                </a:cubicBezTo>
                <a:lnTo>
                  <a:pt x="101611" y="5029200"/>
                </a:lnTo>
                <a:cubicBezTo>
                  <a:pt x="45493" y="5029200"/>
                  <a:pt x="0" y="4983707"/>
                  <a:pt x="0" y="49275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0"/>
          <p:cNvSpPr/>
          <p:nvPr/>
        </p:nvSpPr>
        <p:spPr>
          <a:xfrm>
            <a:off x="9772650" y="1244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9486900" y="18796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智能维护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337550" y="2336800"/>
            <a:ext cx="3441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自动故障诊断，触屏提示处理建议，支持远程监控，实现预防性维护。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09550" y="63500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设计目标：实现零工伤、零重大停机。</a:t>
            </a:r>
            <a:endParaRPr lang="en-US" sz="1600" dirty="0"/>
          </a:p>
        </p:txBody>
      </p:sp>
      <p:pic>
        <p:nvPicPr>
          <p:cNvPr id="19" name="图片 18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61511F9A-A7A5-0F75-69D9-F2205508D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075" y="3050540"/>
            <a:ext cx="2703050" cy="2658000"/>
          </a:xfrm>
          <a:prstGeom prst="rect">
            <a:avLst/>
          </a:prstGeom>
        </p:spPr>
      </p:pic>
      <p:pic>
        <p:nvPicPr>
          <p:cNvPr id="21" name="图片 20" descr="图片包含 游戏机, 玩具, 乐高&#10;&#10;AI 生成的内容可能不正确。">
            <a:extLst>
              <a:ext uri="{FF2B5EF4-FFF2-40B4-BE49-F238E27FC236}">
                <a16:creationId xmlns:a16="http://schemas.microsoft.com/office/drawing/2014/main" id="{06D637BE-6E9C-B1F1-37EC-0C09A896D7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3572" y="2844800"/>
            <a:ext cx="2276475" cy="3088551"/>
          </a:xfrm>
          <a:prstGeom prst="rect">
            <a:avLst/>
          </a:prstGeom>
        </p:spPr>
      </p:pic>
      <p:pic>
        <p:nvPicPr>
          <p:cNvPr id="23" name="图片 22" descr="图示&#10;&#10;AI 生成的内容可能不正确。">
            <a:extLst>
              <a:ext uri="{FF2B5EF4-FFF2-40B4-BE49-F238E27FC236}">
                <a16:creationId xmlns:a16="http://schemas.microsoft.com/office/drawing/2014/main" id="{0386A384-DA1F-4213-1B95-E4F45FD0C3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0453" y="3041374"/>
            <a:ext cx="2853773" cy="266022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商业模式与盈利路径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0002" y="458470"/>
            <a:ext cx="63690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价值主张：五维优势，精准破局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5093749" y="2723782"/>
            <a:ext cx="1625600" cy="1625600"/>
          </a:xfrm>
          <a:custGeom>
            <a:avLst/>
            <a:gdLst/>
            <a:ahLst/>
            <a:cxnLst/>
            <a:rect l="l" t="t" r="r" b="b"/>
            <a:pathLst>
              <a:path w="1625600" h="1625600">
                <a:moveTo>
                  <a:pt x="812800" y="0"/>
                </a:moveTo>
                <a:lnTo>
                  <a:pt x="812800" y="0"/>
                </a:lnTo>
                <a:cubicBezTo>
                  <a:pt x="1261397" y="0"/>
                  <a:pt x="1625600" y="364203"/>
                  <a:pt x="1625600" y="812800"/>
                </a:cubicBezTo>
                <a:lnTo>
                  <a:pt x="1625600" y="812800"/>
                </a:lnTo>
                <a:cubicBezTo>
                  <a:pt x="1625600" y="1261397"/>
                  <a:pt x="1261397" y="1625600"/>
                  <a:pt x="812800" y="1625600"/>
                </a:cubicBezTo>
                <a:lnTo>
                  <a:pt x="812800" y="1625600"/>
                </a:lnTo>
                <a:cubicBezTo>
                  <a:pt x="364203" y="1625600"/>
                  <a:pt x="0" y="1261397"/>
                  <a:pt x="0" y="812800"/>
                </a:cubicBezTo>
                <a:lnTo>
                  <a:pt x="0" y="812800"/>
                </a:lnTo>
                <a:cubicBezTo>
                  <a:pt x="0" y="364203"/>
                  <a:pt x="364203" y="0"/>
                  <a:pt x="812800" y="0"/>
                </a:cubicBezTo>
                <a:close/>
              </a:path>
            </a:pathLst>
          </a:custGeom>
          <a:solidFill>
            <a:srgbClr val="3A7BD5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5652549" y="3231782"/>
            <a:ext cx="50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价值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主张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637409" y="969105"/>
            <a:ext cx="2438400" cy="1485265"/>
          </a:xfrm>
          <a:custGeom>
            <a:avLst/>
            <a:gdLst/>
            <a:ahLst/>
            <a:cxnLst/>
            <a:rect l="l" t="t" r="r" b="b"/>
            <a:pathLst>
              <a:path w="2438400" h="812800">
                <a:moveTo>
                  <a:pt x="101600" y="0"/>
                </a:moveTo>
                <a:lnTo>
                  <a:pt x="2336800" y="0"/>
                </a:lnTo>
                <a:cubicBezTo>
                  <a:pt x="2392875" y="0"/>
                  <a:pt x="2438400" y="45525"/>
                  <a:pt x="2438400" y="101600"/>
                </a:cubicBezTo>
                <a:lnTo>
                  <a:pt x="2438400" y="711200"/>
                </a:lnTo>
                <a:cubicBezTo>
                  <a:pt x="2438400" y="767275"/>
                  <a:pt x="2392875" y="812800"/>
                  <a:pt x="2336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4674649" y="1097681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柔性适配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687349" y="1402480"/>
            <a:ext cx="2317226" cy="98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换型≤5分钟</a:t>
            </a:r>
          </a:p>
          <a:p>
            <a:pPr algn="ctr">
              <a:lnSpc>
                <a:spcPct val="110000"/>
              </a:lnSpc>
            </a:pPr>
            <a:r>
              <a:rPr lang="zh-CN" altLang="en-US" sz="1200" dirty="0"/>
              <a:t>针对中小企业“多品种、小批量”特点，本设备采用“机械可调 </a:t>
            </a:r>
            <a:r>
              <a:rPr lang="en-US" altLang="zh-CN" sz="1200" dirty="0"/>
              <a:t>+ </a:t>
            </a:r>
            <a:r>
              <a:rPr lang="zh-CN" altLang="en-US" sz="1200" dirty="0"/>
              <a:t>参数化程序”方案</a:t>
            </a:r>
            <a:r>
              <a:rPr lang="zh-CN" altLang="en-US" dirty="0"/>
              <a:t>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674649" y="4832531"/>
            <a:ext cx="2438400" cy="1311729"/>
          </a:xfrm>
          <a:custGeom>
            <a:avLst/>
            <a:gdLst/>
            <a:ahLst/>
            <a:cxnLst/>
            <a:rect l="l" t="t" r="r" b="b"/>
            <a:pathLst>
              <a:path w="2438400" h="812800">
                <a:moveTo>
                  <a:pt x="101600" y="0"/>
                </a:moveTo>
                <a:lnTo>
                  <a:pt x="2336800" y="0"/>
                </a:lnTo>
                <a:cubicBezTo>
                  <a:pt x="2392875" y="0"/>
                  <a:pt x="2438400" y="45525"/>
                  <a:pt x="2438400" y="101600"/>
                </a:cubicBezTo>
                <a:lnTo>
                  <a:pt x="2438400" y="711200"/>
                </a:lnTo>
                <a:cubicBezTo>
                  <a:pt x="2438400" y="767275"/>
                  <a:pt x="2392875" y="812800"/>
                  <a:pt x="2336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4738149" y="4883332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易运维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63549" y="5350692"/>
            <a:ext cx="2209800" cy="625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培训1天上岗</a:t>
            </a:r>
          </a:p>
          <a:p>
            <a:pPr algn="ctr">
              <a:lnSpc>
                <a:spcPct val="110000"/>
              </a:lnSpc>
            </a:pPr>
            <a:r>
              <a:rPr lang="zh-CN" altLang="en-US" sz="1200" dirty="0"/>
              <a:t>本设备设计了“简洁化界面 </a:t>
            </a:r>
            <a:r>
              <a:rPr lang="en-US" altLang="zh-CN" sz="1200" dirty="0"/>
              <a:t>+ </a:t>
            </a:r>
            <a:r>
              <a:rPr lang="zh-CN" altLang="en-US" sz="1200" dirty="0"/>
              <a:t>智能化诊断”系统，以降低操作与维护门槛。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988599" y="3004839"/>
            <a:ext cx="2438400" cy="1512159"/>
          </a:xfrm>
          <a:custGeom>
            <a:avLst/>
            <a:gdLst/>
            <a:ahLst/>
            <a:cxnLst/>
            <a:rect l="l" t="t" r="r" b="b"/>
            <a:pathLst>
              <a:path w="2438400" h="812800">
                <a:moveTo>
                  <a:pt x="101600" y="0"/>
                </a:moveTo>
                <a:lnTo>
                  <a:pt x="2336800" y="0"/>
                </a:lnTo>
                <a:cubicBezTo>
                  <a:pt x="2392875" y="0"/>
                  <a:pt x="2438400" y="45525"/>
                  <a:pt x="2438400" y="101600"/>
                </a:cubicBezTo>
                <a:lnTo>
                  <a:pt x="2438400" y="711200"/>
                </a:lnTo>
                <a:cubicBezTo>
                  <a:pt x="2438400" y="767275"/>
                  <a:pt x="2392875" y="812800"/>
                  <a:pt x="2336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2090199" y="3157240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高精度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102899" y="3462040"/>
            <a:ext cx="2209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120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为了在低成本下实现高精度的移栽，本设备采用了“步进电机 </a:t>
            </a:r>
            <a:r>
              <a:rPr lang="en-US" altLang="zh-CN" sz="120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</a:t>
            </a:r>
            <a:r>
              <a:rPr lang="zh-CN" altLang="en-US" sz="120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编码器闭环控制 </a:t>
            </a:r>
            <a:r>
              <a:rPr lang="en-US" altLang="zh-CN" sz="120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</a:t>
            </a:r>
            <a:r>
              <a:rPr lang="zh-CN" altLang="en-US" sz="120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多轴协同补偿”的技术方案。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346951" y="2970907"/>
            <a:ext cx="2438400" cy="1470908"/>
          </a:xfrm>
          <a:custGeom>
            <a:avLst/>
            <a:gdLst/>
            <a:ahLst/>
            <a:cxnLst/>
            <a:rect l="l" t="t" r="r" b="b"/>
            <a:pathLst>
              <a:path w="2438400" h="812800">
                <a:moveTo>
                  <a:pt x="101600" y="0"/>
                </a:moveTo>
                <a:lnTo>
                  <a:pt x="2336800" y="0"/>
                </a:lnTo>
                <a:cubicBezTo>
                  <a:pt x="2392875" y="0"/>
                  <a:pt x="2438400" y="45525"/>
                  <a:pt x="2438400" y="101600"/>
                </a:cubicBezTo>
                <a:lnTo>
                  <a:pt x="2438400" y="711200"/>
                </a:lnTo>
                <a:cubicBezTo>
                  <a:pt x="2438400" y="767275"/>
                  <a:pt x="2392875" y="812800"/>
                  <a:pt x="2336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7448551" y="3123307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低成本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461251" y="3428106"/>
            <a:ext cx="2209800" cy="951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售价≤8万元</a:t>
            </a:r>
          </a:p>
          <a:p>
            <a:pPr algn="ctr">
              <a:lnSpc>
                <a:spcPct val="110000"/>
              </a:lnSpc>
            </a:pPr>
            <a:r>
              <a:rPr lang="zh-CN" altLang="en-US" sz="1200" dirty="0"/>
              <a:t>本设备采用了“模块叠加布局 </a:t>
            </a:r>
            <a:r>
              <a:rPr lang="en-US" altLang="zh-CN" sz="1200" dirty="0"/>
              <a:t>+ </a:t>
            </a:r>
            <a:r>
              <a:rPr lang="zh-CN" altLang="en-US" sz="1200" dirty="0"/>
              <a:t>小型化部件选型”的设计理念，以实现设备的小型化。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680475" y="2349500"/>
            <a:ext cx="2413000" cy="2413000"/>
          </a:xfrm>
          <a:custGeom>
            <a:avLst/>
            <a:gdLst/>
            <a:ahLst/>
            <a:cxnLst/>
            <a:rect l="l" t="t" r="r" b="b"/>
            <a:pathLst>
              <a:path w="2413000" h="2413000">
                <a:moveTo>
                  <a:pt x="1206500" y="0"/>
                </a:moveTo>
                <a:lnTo>
                  <a:pt x="1206500" y="0"/>
                </a:lnTo>
                <a:cubicBezTo>
                  <a:pt x="1872385" y="0"/>
                  <a:pt x="2413000" y="540615"/>
                  <a:pt x="2413000" y="1206500"/>
                </a:cubicBezTo>
                <a:lnTo>
                  <a:pt x="2413000" y="1206500"/>
                </a:lnTo>
                <a:cubicBezTo>
                  <a:pt x="2413000" y="1872385"/>
                  <a:pt x="1872385" y="2413000"/>
                  <a:pt x="1206500" y="2413000"/>
                </a:cubicBezTo>
                <a:lnTo>
                  <a:pt x="1206500" y="2413000"/>
                </a:lnTo>
                <a:cubicBezTo>
                  <a:pt x="540615" y="2413000"/>
                  <a:pt x="0" y="1872385"/>
                  <a:pt x="0" y="1206500"/>
                </a:cubicBezTo>
                <a:lnTo>
                  <a:pt x="0" y="1206500"/>
                </a:lnTo>
                <a:cubicBezTo>
                  <a:pt x="0" y="540615"/>
                  <a:pt x="540615" y="0"/>
                  <a:pt x="12065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A7BD5"/>
            </a:solidFill>
            <a:prstDash val="dash"/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销售通路：三箭齐发，快速覆盖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254000" y="1016000"/>
            <a:ext cx="3759200" cy="5588000"/>
          </a:xfrm>
          <a:custGeom>
            <a:avLst/>
            <a:gdLst/>
            <a:ahLst/>
            <a:cxnLst/>
            <a:rect l="l" t="t" r="r" b="b"/>
            <a:pathLst>
              <a:path w="3759200" h="55880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5486389"/>
                </a:lnTo>
                <a:cubicBezTo>
                  <a:pt x="3759200" y="5542507"/>
                  <a:pt x="3713707" y="5588000"/>
                  <a:pt x="3657589" y="5588000"/>
                </a:cubicBezTo>
                <a:lnTo>
                  <a:pt x="101611" y="5588000"/>
                </a:lnTo>
                <a:cubicBezTo>
                  <a:pt x="45493" y="5588000"/>
                  <a:pt x="0" y="5542507"/>
                  <a:pt x="0" y="54863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1847850" y="1244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562100" y="19304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直接销售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12750" y="1770409"/>
            <a:ext cx="3441700" cy="370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自建5人团队，聚焦长三角、珠三角，通过展会、推介会、上门拜访获取样板客户。</a:t>
            </a:r>
            <a:r>
              <a:rPr lang="zh-CN" alt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参加行业展会，举办产品推介会也是销售团队的重要活动。我们会邀请目标客户参加产品推介会，在会上详细介绍设备的性能、优势、应用案例等内容，让客户更加深入地了解设备的特点和价值。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73200" y="5111320"/>
            <a:ext cx="1231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目标: 建立案例库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16400" y="1016000"/>
            <a:ext cx="3759200" cy="5588000"/>
          </a:xfrm>
          <a:custGeom>
            <a:avLst/>
            <a:gdLst/>
            <a:ahLst/>
            <a:cxnLst/>
            <a:rect l="l" t="t" r="r" b="b"/>
            <a:pathLst>
              <a:path w="3759200" h="55880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5486389"/>
                </a:lnTo>
                <a:cubicBezTo>
                  <a:pt x="3759200" y="5542507"/>
                  <a:pt x="3713707" y="5588000"/>
                  <a:pt x="3657589" y="5588000"/>
                </a:cubicBezTo>
                <a:lnTo>
                  <a:pt x="101611" y="5588000"/>
                </a:lnTo>
                <a:cubicBezTo>
                  <a:pt x="45493" y="5588000"/>
                  <a:pt x="0" y="5542507"/>
                  <a:pt x="0" y="54863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D0F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7"/>
          <p:cNvSpPr/>
          <p:nvPr/>
        </p:nvSpPr>
        <p:spPr>
          <a:xfrm>
            <a:off x="5810250" y="1244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5397500" y="19304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代理商销售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19600" y="2065020"/>
            <a:ext cx="3441700" cy="370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发展区域代理，覆盖国内20+城市及东南亚，共享售后利润，快速打开市场。</a:t>
            </a:r>
            <a:r>
              <a:rPr lang="zh-CN" alt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具有一定行业资源和销售渠道的代理商建立合作关系。代理商在当地市场具有丰富的客户资源和销售经验，能够更好地了解当地客户的需求和市场动态。我们为代理商提供全面的产品培训，包括设备的性能、操作、维护等方面的知识，确保代理商能够熟练掌握设备的特点和优势，为客户提供专业的服务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321300" y="5511800"/>
            <a:ext cx="154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目标: 市场占有率15%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204517" y="1016000"/>
            <a:ext cx="3759200" cy="5588000"/>
          </a:xfrm>
          <a:custGeom>
            <a:avLst/>
            <a:gdLst/>
            <a:ahLst/>
            <a:cxnLst/>
            <a:rect l="l" t="t" r="r" b="b"/>
            <a:pathLst>
              <a:path w="3759200" h="55880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5486389"/>
                </a:lnTo>
                <a:cubicBezTo>
                  <a:pt x="3759200" y="5542507"/>
                  <a:pt x="3713707" y="5588000"/>
                  <a:pt x="3657589" y="5588000"/>
                </a:cubicBezTo>
                <a:lnTo>
                  <a:pt x="101611" y="5588000"/>
                </a:lnTo>
                <a:cubicBezTo>
                  <a:pt x="45493" y="5588000"/>
                  <a:pt x="0" y="5542507"/>
                  <a:pt x="0" y="54863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9772650" y="1244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9486900" y="19304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电商平台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337550" y="2387600"/>
            <a:ext cx="3441700" cy="350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开设阿里、京东旗舰店，发布技术资料与视频，实现线上闭环交易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r>
              <a:rPr lang="zh-CN" alt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用电商平台开设官方旗舰店，是我们拓展销售渠道的重要举措。电商平台具有便捷、高效、覆盖面广等特点，能够吸引更多潜在客户。在电商平台上，我们提供详细的产品信息，包括设备的规格、性能、参数、图片、视频等，让客户能够全面了解设备的特点和优势。同时，我们还提供技术参数说明，详细介绍设备的技术指标和适用范围，方便客户进行对比和选择。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290050" y="5709935"/>
            <a:ext cx="153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目标: 建立品牌知名度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8750" y="10414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盈利模式：三重收入，构建可持续现金流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254000" y="2717800"/>
            <a:ext cx="3695700" cy="1219200"/>
          </a:xfrm>
          <a:custGeom>
            <a:avLst/>
            <a:gdLst/>
            <a:ahLst/>
            <a:cxnLst/>
            <a:rect l="l" t="t" r="r" b="b"/>
            <a:pathLst>
              <a:path w="3695700" h="1219200">
                <a:moveTo>
                  <a:pt x="101596" y="0"/>
                </a:moveTo>
                <a:lnTo>
                  <a:pt x="3594104" y="0"/>
                </a:lnTo>
                <a:cubicBezTo>
                  <a:pt x="3650214" y="0"/>
                  <a:pt x="3695700" y="45486"/>
                  <a:pt x="3695700" y="101596"/>
                </a:cubicBezTo>
                <a:lnTo>
                  <a:pt x="3695700" y="1219200"/>
                </a:lnTo>
                <a:lnTo>
                  <a:pt x="0" y="1219200"/>
                </a:ln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A8D0F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196850" y="2717800"/>
            <a:ext cx="3810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设备销售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254000" y="3937000"/>
            <a:ext cx="3695700" cy="609600"/>
          </a:xfrm>
          <a:custGeom>
            <a:avLst/>
            <a:gdLst/>
            <a:ahLst/>
            <a:cxnLst/>
            <a:rect l="l" t="t" r="r" b="b"/>
            <a:pathLst>
              <a:path w="3695700" h="609600">
                <a:moveTo>
                  <a:pt x="0" y="0"/>
                </a:moveTo>
                <a:lnTo>
                  <a:pt x="3695700" y="0"/>
                </a:lnTo>
                <a:lnTo>
                  <a:pt x="3695700" y="507998"/>
                </a:lnTo>
                <a:cubicBezTo>
                  <a:pt x="3695700" y="564111"/>
                  <a:pt x="3650211" y="609600"/>
                  <a:pt x="35940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0"/>
                </a:lnTo>
                <a:close/>
              </a:path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203200" y="3937000"/>
            <a:ext cx="3797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毛利 30%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87355" y="4648200"/>
            <a:ext cx="121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一次性收入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单台贡献2.4万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50267" y="1905000"/>
            <a:ext cx="3695700" cy="2032000"/>
          </a:xfrm>
          <a:custGeom>
            <a:avLst/>
            <a:gdLst/>
            <a:ahLst/>
            <a:cxnLst/>
            <a:rect l="l" t="t" r="r" b="b"/>
            <a:pathLst>
              <a:path w="3695700" h="2032000">
                <a:moveTo>
                  <a:pt x="101600" y="0"/>
                </a:moveTo>
                <a:lnTo>
                  <a:pt x="3594100" y="0"/>
                </a:lnTo>
                <a:cubicBezTo>
                  <a:pt x="3650175" y="0"/>
                  <a:pt x="3695700" y="45525"/>
                  <a:pt x="3695700" y="101600"/>
                </a:cubicBezTo>
                <a:lnTo>
                  <a:pt x="3695700" y="2032000"/>
                </a:lnTo>
                <a:lnTo>
                  <a:pt x="0" y="2032000"/>
                </a:ln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4193117" y="1905000"/>
            <a:ext cx="381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售后服务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250267" y="3937000"/>
            <a:ext cx="3695700" cy="609600"/>
          </a:xfrm>
          <a:custGeom>
            <a:avLst/>
            <a:gdLst/>
            <a:ahLst/>
            <a:cxnLst/>
            <a:rect l="l" t="t" r="r" b="b"/>
            <a:pathLst>
              <a:path w="3695700" h="609600">
                <a:moveTo>
                  <a:pt x="0" y="0"/>
                </a:moveTo>
                <a:lnTo>
                  <a:pt x="3695700" y="0"/>
                </a:lnTo>
                <a:lnTo>
                  <a:pt x="3695700" y="507998"/>
                </a:lnTo>
                <a:cubicBezTo>
                  <a:pt x="3695700" y="564111"/>
                  <a:pt x="3650211" y="609600"/>
                  <a:pt x="35940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0"/>
                </a:lnTo>
                <a:close/>
              </a:path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4199467" y="3937000"/>
            <a:ext cx="3797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毛利 50%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537597" y="4648200"/>
            <a:ext cx="1117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持续性收入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年均0.8万/台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246534" y="2311400"/>
            <a:ext cx="3695700" cy="1625600"/>
          </a:xfrm>
          <a:custGeom>
            <a:avLst/>
            <a:gdLst/>
            <a:ahLst/>
            <a:cxnLst/>
            <a:rect l="l" t="t" r="r" b="b"/>
            <a:pathLst>
              <a:path w="3695700" h="1625600">
                <a:moveTo>
                  <a:pt x="101600" y="0"/>
                </a:moveTo>
                <a:lnTo>
                  <a:pt x="3594100" y="0"/>
                </a:lnTo>
                <a:cubicBezTo>
                  <a:pt x="3650175" y="0"/>
                  <a:pt x="3695700" y="45525"/>
                  <a:pt x="3695700" y="101600"/>
                </a:cubicBezTo>
                <a:lnTo>
                  <a:pt x="3695700" y="1625600"/>
                </a:lnTo>
                <a:lnTo>
                  <a:pt x="0" y="1625600"/>
                </a:ln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8189384" y="2311400"/>
            <a:ext cx="3810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技术升级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246534" y="3937000"/>
            <a:ext cx="3695700" cy="609600"/>
          </a:xfrm>
          <a:custGeom>
            <a:avLst/>
            <a:gdLst/>
            <a:ahLst/>
            <a:cxnLst/>
            <a:rect l="l" t="t" r="r" b="b"/>
            <a:pathLst>
              <a:path w="3695700" h="609600">
                <a:moveTo>
                  <a:pt x="0" y="0"/>
                </a:moveTo>
                <a:lnTo>
                  <a:pt x="3695700" y="0"/>
                </a:lnTo>
                <a:lnTo>
                  <a:pt x="3695700" y="507998"/>
                </a:lnTo>
                <a:cubicBezTo>
                  <a:pt x="3695700" y="564111"/>
                  <a:pt x="3650211" y="609600"/>
                  <a:pt x="35940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0"/>
                </a:lnTo>
                <a:close/>
              </a:path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8195734" y="3937000"/>
            <a:ext cx="3797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毛利 60%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577520" y="4648200"/>
            <a:ext cx="1028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增值性收入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单次0.3-1万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209550" y="55626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以单客户3台设备、5年生命周期测算，总贡献</a:t>
            </a:r>
            <a:r>
              <a:rPr lang="en-US" sz="1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13.6万元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，其中服务与升级占比</a:t>
            </a:r>
            <a:r>
              <a:rPr lang="en-US" sz="1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46%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995" y="527367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投资回报：五年ROI超30%，财务高度可行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299200" y="1854200"/>
            <a:ext cx="5638800" cy="1219200"/>
          </a:xfrm>
          <a:custGeom>
            <a:avLst/>
            <a:gdLst/>
            <a:ahLst/>
            <a:cxnLst/>
            <a:rect l="l" t="t" r="r" b="b"/>
            <a:pathLst>
              <a:path w="5638800" h="1219200">
                <a:moveTo>
                  <a:pt x="101596" y="0"/>
                </a:moveTo>
                <a:lnTo>
                  <a:pt x="5537204" y="0"/>
                </a:lnTo>
                <a:cubicBezTo>
                  <a:pt x="5593314" y="0"/>
                  <a:pt x="5638800" y="45486"/>
                  <a:pt x="5638800" y="101596"/>
                </a:cubicBezTo>
                <a:lnTo>
                  <a:pt x="5638800" y="1117604"/>
                </a:lnTo>
                <a:cubicBezTo>
                  <a:pt x="5638800" y="1173714"/>
                  <a:pt x="5593314" y="1219200"/>
                  <a:pt x="55372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6502400" y="20574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核心财务指标 (第5年)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502400" y="2599267"/>
            <a:ext cx="143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投资回报率 (ROI)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832571" y="2463800"/>
            <a:ext cx="1054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&gt; 30%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99200" y="3276600"/>
            <a:ext cx="5638800" cy="1016000"/>
          </a:xfrm>
          <a:custGeom>
            <a:avLst/>
            <a:gdLst/>
            <a:ahLst/>
            <a:cxnLst/>
            <a:rect l="l" t="t" r="r" b="b"/>
            <a:pathLst>
              <a:path w="5638800" h="10160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914400"/>
                </a:lnTo>
                <a:cubicBezTo>
                  <a:pt x="5638800" y="970475"/>
                  <a:pt x="5593275" y="1016000"/>
                  <a:pt x="55372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6502400" y="34798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盈利预测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02400" y="3835400"/>
            <a:ext cx="532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5年累计销售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600台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，销售收入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4800万元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，净利润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1440万元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99200" y="4495800"/>
            <a:ext cx="5638800" cy="1270000"/>
          </a:xfrm>
          <a:custGeom>
            <a:avLst/>
            <a:gdLst/>
            <a:ahLst/>
            <a:cxnLst/>
            <a:rect l="l" t="t" r="r" b="b"/>
            <a:pathLst>
              <a:path w="5638800" h="12700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1168400"/>
                </a:lnTo>
                <a:cubicBezTo>
                  <a:pt x="5638800" y="1224475"/>
                  <a:pt x="5593275" y="1270000"/>
                  <a:pt x="55372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6502400" y="46990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现金流分析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02400" y="5054600"/>
            <a:ext cx="5321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第2年实现正向经营现金流，第4年收回全部投资，NPV为正，IRR高于行业基准。</a:t>
            </a:r>
            <a:endParaRPr lang="en-US" sz="1600" dirty="0"/>
          </a:p>
        </p:txBody>
      </p:sp>
      <p:pic>
        <p:nvPicPr>
          <p:cNvPr id="16" name="图片 15" descr="图片包含 室内, 照片, 烤箱, 火炉&#10;&#10;AI 生成的内容可能不正确。">
            <a:extLst>
              <a:ext uri="{FF2B5EF4-FFF2-40B4-BE49-F238E27FC236}">
                <a16:creationId xmlns:a16="http://schemas.microsoft.com/office/drawing/2014/main" id="{60EECFF7-8378-FC83-68E9-FCD038947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651" y="1672879"/>
            <a:ext cx="4629150" cy="40290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风险矩阵：四大风险与应对策略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254000" y="1219200"/>
            <a:ext cx="5715000" cy="2411896"/>
          </a:xfrm>
          <a:custGeom>
            <a:avLst/>
            <a:gdLst/>
            <a:ahLst/>
            <a:cxnLst/>
            <a:rect l="l" t="t" r="r" b="b"/>
            <a:pathLst>
              <a:path w="5715000" h="2667000">
                <a:moveTo>
                  <a:pt x="101613" y="0"/>
                </a:moveTo>
                <a:lnTo>
                  <a:pt x="5613387" y="0"/>
                </a:lnTo>
                <a:cubicBezTo>
                  <a:pt x="5669506" y="0"/>
                  <a:pt x="5715000" y="45494"/>
                  <a:pt x="5715000" y="101613"/>
                </a:cubicBezTo>
                <a:lnTo>
                  <a:pt x="5715000" y="2565387"/>
                </a:lnTo>
                <a:cubicBezTo>
                  <a:pt x="5715000" y="2621506"/>
                  <a:pt x="5669506" y="2667000"/>
                  <a:pt x="5613387" y="2667000"/>
                </a:cubicBezTo>
                <a:lnTo>
                  <a:pt x="101613" y="2667000"/>
                </a:lnTo>
                <a:cubicBezTo>
                  <a:pt x="45494" y="2667000"/>
                  <a:pt x="0" y="2621506"/>
                  <a:pt x="0" y="2565387"/>
                </a:cubicBezTo>
                <a:lnTo>
                  <a:pt x="0" y="101613"/>
                </a:lnTo>
                <a:cubicBezTo>
                  <a:pt x="0" y="45531"/>
                  <a:pt x="45531" y="0"/>
                  <a:pt x="101613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457200" y="1303867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085850" y="1219200"/>
            <a:ext cx="478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技术风险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23900" y="1567456"/>
            <a:ext cx="4775200" cy="1976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对策: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与深圳大学共建实验室，提前完成200小时连续运行测试，确保算法可靠性。</a:t>
            </a:r>
            <a:r>
              <a:rPr lang="zh-CN" alt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强技术研发团队建设，引进高端技术人才，提高团队技术创新能力；建立技术研发风险预警机制，定期对技术研发进展进行评估与分析，及时发现并解决潜在问题；加强与高校、科研机构的合作，开展产学研联合攻关，共同攻克技术难题；关注行业技术发展趋势，加大技术研发投入，及时对产品进行升级换代，保持技术领先地位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23000" y="1219200"/>
            <a:ext cx="5715000" cy="2411896"/>
          </a:xfrm>
          <a:custGeom>
            <a:avLst/>
            <a:gdLst/>
            <a:ahLst/>
            <a:cxnLst/>
            <a:rect l="l" t="t" r="r" b="b"/>
            <a:pathLst>
              <a:path w="5715000" h="2667000">
                <a:moveTo>
                  <a:pt x="101613" y="0"/>
                </a:moveTo>
                <a:lnTo>
                  <a:pt x="5613387" y="0"/>
                </a:lnTo>
                <a:cubicBezTo>
                  <a:pt x="5669506" y="0"/>
                  <a:pt x="5715000" y="45494"/>
                  <a:pt x="5715000" y="101613"/>
                </a:cubicBezTo>
                <a:lnTo>
                  <a:pt x="5715000" y="2565387"/>
                </a:lnTo>
                <a:cubicBezTo>
                  <a:pt x="5715000" y="2621506"/>
                  <a:pt x="5669506" y="2667000"/>
                  <a:pt x="5613387" y="2667000"/>
                </a:cubicBezTo>
                <a:lnTo>
                  <a:pt x="101613" y="2667000"/>
                </a:lnTo>
                <a:cubicBezTo>
                  <a:pt x="45494" y="2667000"/>
                  <a:pt x="0" y="2621506"/>
                  <a:pt x="0" y="2565387"/>
                </a:cubicBezTo>
                <a:lnTo>
                  <a:pt x="0" y="101613"/>
                </a:lnTo>
                <a:cubicBezTo>
                  <a:pt x="0" y="45531"/>
                  <a:pt x="45531" y="0"/>
                  <a:pt x="101613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6"/>
          <p:cNvSpPr/>
          <p:nvPr/>
        </p:nvSpPr>
        <p:spPr>
          <a:xfrm>
            <a:off x="6426200" y="1303867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7054850" y="1219200"/>
            <a:ext cx="478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市场风险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667500" y="1578444"/>
            <a:ext cx="4972050" cy="1724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对策: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申请专利建立壁垒，并通过优质服务和客户绑定，构建差异化竞争优势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r>
              <a:rPr lang="zh-CN" alt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强市场调研与市场分析，及时了解市场需求变化趋势，根据市场需求调整产品研发与生产计划；制定差异化的市场竞争策略，突出产品特色与优势，提高产品竞争力；加强品牌建设与市场推广力度，通过多种渠道宣传产品，提高产品知名度与美誉度；建立完善的客户服务体系，提高客户满意度与忠诚度，树立良好的品牌形象。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53365" y="3807828"/>
            <a:ext cx="5715000" cy="2796172"/>
          </a:xfrm>
          <a:custGeom>
            <a:avLst/>
            <a:gdLst/>
            <a:ahLst/>
            <a:cxnLst/>
            <a:rect l="l" t="t" r="r" b="b"/>
            <a:pathLst>
              <a:path w="5715000" h="2667000">
                <a:moveTo>
                  <a:pt x="101613" y="0"/>
                </a:moveTo>
                <a:lnTo>
                  <a:pt x="5613387" y="0"/>
                </a:lnTo>
                <a:cubicBezTo>
                  <a:pt x="5669506" y="0"/>
                  <a:pt x="5715000" y="45494"/>
                  <a:pt x="5715000" y="101613"/>
                </a:cubicBezTo>
                <a:lnTo>
                  <a:pt x="5715000" y="2565387"/>
                </a:lnTo>
                <a:cubicBezTo>
                  <a:pt x="5715000" y="2621506"/>
                  <a:pt x="5669506" y="2667000"/>
                  <a:pt x="5613387" y="2667000"/>
                </a:cubicBezTo>
                <a:lnTo>
                  <a:pt x="101613" y="2667000"/>
                </a:lnTo>
                <a:cubicBezTo>
                  <a:pt x="45494" y="2667000"/>
                  <a:pt x="0" y="2621506"/>
                  <a:pt x="0" y="2565387"/>
                </a:cubicBezTo>
                <a:lnTo>
                  <a:pt x="0" y="101613"/>
                </a:lnTo>
                <a:cubicBezTo>
                  <a:pt x="0" y="45531"/>
                  <a:pt x="45531" y="0"/>
                  <a:pt x="101613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0"/>
          <p:cNvSpPr/>
          <p:nvPr/>
        </p:nvSpPr>
        <p:spPr>
          <a:xfrm>
            <a:off x="457200" y="4224867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1085850" y="3920067"/>
            <a:ext cx="478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供应链风险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7200" y="4378959"/>
            <a:ext cx="5403850" cy="1829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对策: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与核心供应商签订滚动预测协议，建立安全库存，保障核心部件供应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r>
              <a:rPr lang="zh-CN" alt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多家优质供应商建立长期稳定的合作关系，签订长期供应合同，确保原材料的稳定供应；加强对供应商的管理与评估，定期对供应商进行考核，选择质量可靠、价格合理、供货及时的供应商；建立原材料库存管理制度，根据生产计划与市场需求合理储备原材料，降低供应中断风险；选择信誉良好、服务优质的物流合作伙伴，签订物流服务合同，明确双方责任与义务，加强对物流运输过程的监控与管理，确保货物安全、及时送达。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223000" y="3807828"/>
            <a:ext cx="5715000" cy="2796172"/>
          </a:xfrm>
          <a:custGeom>
            <a:avLst/>
            <a:gdLst/>
            <a:ahLst/>
            <a:cxnLst/>
            <a:rect l="l" t="t" r="r" b="b"/>
            <a:pathLst>
              <a:path w="5715000" h="2667000">
                <a:moveTo>
                  <a:pt x="101613" y="0"/>
                </a:moveTo>
                <a:lnTo>
                  <a:pt x="5613387" y="0"/>
                </a:lnTo>
                <a:cubicBezTo>
                  <a:pt x="5669506" y="0"/>
                  <a:pt x="5715000" y="45494"/>
                  <a:pt x="5715000" y="101613"/>
                </a:cubicBezTo>
                <a:lnTo>
                  <a:pt x="5715000" y="2565387"/>
                </a:lnTo>
                <a:cubicBezTo>
                  <a:pt x="5715000" y="2621506"/>
                  <a:pt x="5669506" y="2667000"/>
                  <a:pt x="5613387" y="2667000"/>
                </a:cubicBezTo>
                <a:lnTo>
                  <a:pt x="101613" y="2667000"/>
                </a:lnTo>
                <a:cubicBezTo>
                  <a:pt x="45494" y="2667000"/>
                  <a:pt x="0" y="2621506"/>
                  <a:pt x="0" y="2565387"/>
                </a:cubicBezTo>
                <a:lnTo>
                  <a:pt x="0" y="101613"/>
                </a:lnTo>
                <a:cubicBezTo>
                  <a:pt x="0" y="45531"/>
                  <a:pt x="45531" y="0"/>
                  <a:pt x="101613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6426200" y="4224867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7054850" y="3920067"/>
            <a:ext cx="478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资金风险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92957" y="4495800"/>
            <a:ext cx="5237093" cy="1471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对策: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优化收款条件，引入银行授信，确保现金流健康，降低回款风险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r>
              <a:rPr lang="zh-CN" alt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定详细的资金预算计划，合理安排资金使用，确保项目各阶段资金需求得到满足；拓宽融资渠道，除了自有资金外，积极寻求银行贷款、风险投资、政府扶持资金等外部资金支持；加强资金管理，建立健全资金管理制度，严格控制资金支出，提高资金使用效率；定期对资金使用情况进行审计与评估，及时发现并纠正资金使用过程中存在的问题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团队与发展路径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696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altLang="zh-CN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8921" y="527367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跨学科团队：研发+生产+市场三线并进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4351867" y="2209800"/>
            <a:ext cx="7581900" cy="812800"/>
          </a:xfrm>
          <a:custGeom>
            <a:avLst/>
            <a:gdLst/>
            <a:ahLst/>
            <a:cxnLst/>
            <a:rect l="l" t="t" r="r" b="b"/>
            <a:pathLst>
              <a:path w="7581900" h="812800">
                <a:moveTo>
                  <a:pt x="101600" y="0"/>
                </a:moveTo>
                <a:lnTo>
                  <a:pt x="7480300" y="0"/>
                </a:lnTo>
                <a:cubicBezTo>
                  <a:pt x="7536375" y="0"/>
                  <a:pt x="7581900" y="45525"/>
                  <a:pt x="7581900" y="101600"/>
                </a:cubicBezTo>
                <a:lnTo>
                  <a:pt x="7581900" y="711200"/>
                </a:lnTo>
                <a:cubicBezTo>
                  <a:pt x="7581900" y="767275"/>
                  <a:pt x="7536375" y="812800"/>
                  <a:pt x="74803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4504267" y="2489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核心研发 (8人)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324600" y="2362200"/>
            <a:ext cx="5549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机械2、电气2、软件2、视觉1、采购1，覆盖结构、控制、算法全栈。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351867" y="3175000"/>
            <a:ext cx="7581900" cy="812800"/>
          </a:xfrm>
          <a:custGeom>
            <a:avLst/>
            <a:gdLst/>
            <a:ahLst/>
            <a:cxnLst/>
            <a:rect l="l" t="t" r="r" b="b"/>
            <a:pathLst>
              <a:path w="7581900" h="812800">
                <a:moveTo>
                  <a:pt x="101600" y="0"/>
                </a:moveTo>
                <a:lnTo>
                  <a:pt x="7480300" y="0"/>
                </a:lnTo>
                <a:cubicBezTo>
                  <a:pt x="7536375" y="0"/>
                  <a:pt x="7581900" y="45525"/>
                  <a:pt x="7581900" y="101600"/>
                </a:cubicBezTo>
                <a:lnTo>
                  <a:pt x="7581900" y="711200"/>
                </a:lnTo>
                <a:cubicBezTo>
                  <a:pt x="7581900" y="767275"/>
                  <a:pt x="7536375" y="812800"/>
                  <a:pt x="74803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4504267" y="34544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生产测试 (4人)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324600" y="3327400"/>
            <a:ext cx="5549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机加3、电装1、测试1，具备月产20台能力，已通过3台样板订单验证。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351867" y="4140200"/>
            <a:ext cx="7581900" cy="558800"/>
          </a:xfrm>
          <a:custGeom>
            <a:avLst/>
            <a:gdLst/>
            <a:ahLst/>
            <a:cxnLst/>
            <a:rect l="l" t="t" r="r" b="b"/>
            <a:pathLst>
              <a:path w="7581900" h="558800">
                <a:moveTo>
                  <a:pt x="101601" y="0"/>
                </a:moveTo>
                <a:lnTo>
                  <a:pt x="7480299" y="0"/>
                </a:lnTo>
                <a:cubicBezTo>
                  <a:pt x="7536412" y="0"/>
                  <a:pt x="7581900" y="45488"/>
                  <a:pt x="7581900" y="101601"/>
                </a:cubicBezTo>
                <a:lnTo>
                  <a:pt x="7581900" y="457199"/>
                </a:lnTo>
                <a:cubicBezTo>
                  <a:pt x="7581900" y="513312"/>
                  <a:pt x="7536412" y="558800"/>
                  <a:pt x="74802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4504267" y="42926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市场销售 (6人)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24600" y="4292600"/>
            <a:ext cx="554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调研2、销售5、客服2，已对接32家潜在客户，获3台试用订单。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51867" y="4851400"/>
            <a:ext cx="7581900" cy="558800"/>
          </a:xfrm>
          <a:custGeom>
            <a:avLst/>
            <a:gdLst/>
            <a:ahLst/>
            <a:cxnLst/>
            <a:rect l="l" t="t" r="r" b="b"/>
            <a:pathLst>
              <a:path w="7581900" h="558800">
                <a:moveTo>
                  <a:pt x="101601" y="0"/>
                </a:moveTo>
                <a:lnTo>
                  <a:pt x="7480299" y="0"/>
                </a:lnTo>
                <a:cubicBezTo>
                  <a:pt x="7536412" y="0"/>
                  <a:pt x="7581900" y="45488"/>
                  <a:pt x="7581900" y="101601"/>
                </a:cubicBezTo>
                <a:lnTo>
                  <a:pt x="7581900" y="457199"/>
                </a:lnTo>
                <a:cubicBezTo>
                  <a:pt x="7581900" y="513312"/>
                  <a:pt x="7536412" y="558800"/>
                  <a:pt x="74802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4504267" y="50038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顾问团队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324600" y="5003800"/>
            <a:ext cx="554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深大教授1名、前发那科高工1名，提供算法与可靠性指导。</a:t>
            </a:r>
            <a:endParaRPr lang="en-US" sz="16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8A8A3EA-C73E-1F3E-C2FC-706B62178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28" y="1871359"/>
            <a:ext cx="4152023" cy="411862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8750" y="20828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三年三步走：从样板到全球化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254000" y="38862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8D0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2192867" y="30734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0"/>
                </a:moveTo>
                <a:lnTo>
                  <a:pt x="279400" y="0"/>
                </a:lnTo>
                <a:cubicBezTo>
                  <a:pt x="433605" y="0"/>
                  <a:pt x="558800" y="125195"/>
                  <a:pt x="558800" y="279400"/>
                </a:cubicBezTo>
                <a:lnTo>
                  <a:pt x="558800" y="279400"/>
                </a:lnTo>
                <a:cubicBezTo>
                  <a:pt x="558800" y="433605"/>
                  <a:pt x="433605" y="558800"/>
                  <a:pt x="2794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3A7BD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2103967" y="304800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96900" y="3860800"/>
            <a:ext cx="374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短期 (1-2年)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15950" y="4267200"/>
            <a:ext cx="3708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完成30台样板销售，建立服务网点，首轮融资500万。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816600" y="30734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0"/>
                </a:moveTo>
                <a:lnTo>
                  <a:pt x="279400" y="0"/>
                </a:lnTo>
                <a:cubicBezTo>
                  <a:pt x="433605" y="0"/>
                  <a:pt x="558800" y="125195"/>
                  <a:pt x="558800" y="279400"/>
                </a:cubicBezTo>
                <a:lnTo>
                  <a:pt x="558800" y="279400"/>
                </a:lnTo>
                <a:cubicBezTo>
                  <a:pt x="558800" y="433605"/>
                  <a:pt x="433605" y="558800"/>
                  <a:pt x="2794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3A7BD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727700" y="304800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220633" y="3860800"/>
            <a:ext cx="374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中期 (3-5年)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39683" y="4267200"/>
            <a:ext cx="3708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产品系列化，国内市占率15%，进入东南亚，年销300台。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9440334" y="30734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0"/>
                </a:moveTo>
                <a:lnTo>
                  <a:pt x="279400" y="0"/>
                </a:lnTo>
                <a:cubicBezTo>
                  <a:pt x="433605" y="0"/>
                  <a:pt x="558800" y="125195"/>
                  <a:pt x="558800" y="279400"/>
                </a:cubicBezTo>
                <a:lnTo>
                  <a:pt x="558800" y="279400"/>
                </a:lnTo>
                <a:cubicBezTo>
                  <a:pt x="558800" y="433605"/>
                  <a:pt x="433605" y="558800"/>
                  <a:pt x="2794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3A7BD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9351434" y="304800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844367" y="3860800"/>
            <a:ext cx="374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 (5年以上)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863417" y="4267200"/>
            <a:ext cx="3708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成为行业龙头，全球销量1000台/年，提供整厂自动化方案。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309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财务分析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696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altLang="zh-CN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1879600"/>
            <a:ext cx="581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融资计划：500万出让15%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2540000"/>
            <a:ext cx="571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本轮拟融资</a:t>
            </a:r>
            <a:r>
              <a:rPr lang="en-US" sz="18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500万元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，出让</a:t>
            </a:r>
            <a:r>
              <a:rPr lang="en-US" sz="18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15%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股权，投后估值</a:t>
            </a:r>
            <a:r>
              <a:rPr lang="en-US" sz="18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3333万元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346075" y="31411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660400" y="3098800"/>
            <a:ext cx="530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量产设备: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200万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46075" y="35475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60400" y="3505200"/>
            <a:ext cx="530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100万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46075" y="39539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660400" y="3911600"/>
            <a:ext cx="530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市场渠道: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100万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46075" y="43603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660400" y="4318000"/>
            <a:ext cx="530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研发认证: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100万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54000" y="4775200"/>
            <a:ext cx="5702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*PE 8.3倍，低于行业平均12倍，为投资人留足增值空间。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287955" y="254000"/>
            <a:ext cx="5651500" cy="6350000"/>
          </a:xfrm>
          <a:custGeom>
            <a:avLst/>
            <a:gdLst/>
            <a:ahLst/>
            <a:cxnLst/>
            <a:rect l="l" t="t" r="r" b="b"/>
            <a:pathLst>
              <a:path w="5651500" h="6350000">
                <a:moveTo>
                  <a:pt x="101614" y="0"/>
                </a:moveTo>
                <a:lnTo>
                  <a:pt x="5549886" y="0"/>
                </a:lnTo>
                <a:cubicBezTo>
                  <a:pt x="5606006" y="0"/>
                  <a:pt x="5651500" y="45494"/>
                  <a:pt x="5651500" y="101614"/>
                </a:cubicBezTo>
                <a:lnTo>
                  <a:pt x="5651500" y="6248386"/>
                </a:lnTo>
                <a:cubicBezTo>
                  <a:pt x="5651500" y="6304506"/>
                  <a:pt x="5606006" y="6350000"/>
                  <a:pt x="5549886" y="6350000"/>
                </a:cubicBezTo>
                <a:lnTo>
                  <a:pt x="101614" y="6350000"/>
                </a:lnTo>
                <a:cubicBezTo>
                  <a:pt x="45494" y="6350000"/>
                  <a:pt x="0" y="6304506"/>
                  <a:pt x="0" y="6248386"/>
                </a:cubicBezTo>
                <a:lnTo>
                  <a:pt x="0" y="101614"/>
                </a:lnTo>
                <a:cubicBezTo>
                  <a:pt x="0" y="45532"/>
                  <a:pt x="45532" y="0"/>
                  <a:pt x="101614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6592756" y="2413000"/>
            <a:ext cx="5168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投资人权益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634031" y="30141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6897556" y="2971800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董事会席位，参与重大决策。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634031" y="34205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6897556" y="3378200"/>
            <a:ext cx="311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下一轮融资优先跟投权与反稀释条款。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634031" y="38269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6897556" y="3784600"/>
            <a:ext cx="346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预计第三年开始分红，分红率不低于30%。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634031" y="42333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0"/>
          <p:cNvSpPr/>
          <p:nvPr/>
        </p:nvSpPr>
        <p:spPr>
          <a:xfrm>
            <a:off x="6897556" y="4191000"/>
            <a:ext cx="374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第五年若未上市，创始人承诺按12%IRR回购。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8750" y="14224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退出路径：上市、并购、转让三线可选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1591733" y="2387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8D0F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1915583" y="2768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629833" y="37592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上市退出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96383" y="4165600"/>
            <a:ext cx="3009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科创板/北交所IPO，预期增值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6-8倍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0" y="2387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8D0F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6"/>
          <p:cNvSpPr/>
          <p:nvPr/>
        </p:nvSpPr>
        <p:spPr>
          <a:xfrm>
            <a:off x="5810250" y="2768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524500" y="37592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并购退出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91050" y="4165600"/>
            <a:ext cx="3009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被产业龙头并购，预期估值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12-15倍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EBITDA。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381067" y="2387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8D0F5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0"/>
          <p:cNvSpPr/>
          <p:nvPr/>
        </p:nvSpPr>
        <p:spPr>
          <a:xfrm>
            <a:off x="9704917" y="2768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004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9419167" y="37592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转让退出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485717" y="4165600"/>
            <a:ext cx="3009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向产业基金协议转让，按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8-10倍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PE定价。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09550" y="51816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公司已建立合规治理，预留VIE架构，并与中介机构签订上市辅导协议，提前规范财务与法律，降低退出不确定性。</a:t>
            </a:r>
            <a:endParaRPr lang="en-US" sz="16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493770DC-91A3-A0B5-59F8-C97312879E2E}"/>
              </a:ext>
            </a:extLst>
          </p:cNvPr>
          <p:cNvSpPr/>
          <p:nvPr/>
        </p:nvSpPr>
        <p:spPr>
          <a:xfrm>
            <a:off x="1928283" y="273547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0"/>
                </a:moveTo>
                <a:lnTo>
                  <a:pt x="279400" y="0"/>
                </a:lnTo>
                <a:cubicBezTo>
                  <a:pt x="433605" y="0"/>
                  <a:pt x="558800" y="125195"/>
                  <a:pt x="558800" y="279400"/>
                </a:cubicBezTo>
                <a:lnTo>
                  <a:pt x="558800" y="279400"/>
                </a:lnTo>
                <a:cubicBezTo>
                  <a:pt x="558800" y="433605"/>
                  <a:pt x="433605" y="558800"/>
                  <a:pt x="2794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3A7BD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7B3715A0-C619-BD4B-40E1-027F6A65582B}"/>
              </a:ext>
            </a:extLst>
          </p:cNvPr>
          <p:cNvSpPr/>
          <p:nvPr/>
        </p:nvSpPr>
        <p:spPr>
          <a:xfrm>
            <a:off x="1839383" y="271007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959C91C3-B768-6DA8-3A6E-6CC8C1F1DAED}"/>
              </a:ext>
            </a:extLst>
          </p:cNvPr>
          <p:cNvSpPr/>
          <p:nvPr/>
        </p:nvSpPr>
        <p:spPr>
          <a:xfrm>
            <a:off x="5822950" y="273547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0"/>
                </a:moveTo>
                <a:lnTo>
                  <a:pt x="279400" y="0"/>
                </a:lnTo>
                <a:cubicBezTo>
                  <a:pt x="433605" y="0"/>
                  <a:pt x="558800" y="125195"/>
                  <a:pt x="558800" y="279400"/>
                </a:cubicBezTo>
                <a:lnTo>
                  <a:pt x="558800" y="279400"/>
                </a:lnTo>
                <a:cubicBezTo>
                  <a:pt x="558800" y="433605"/>
                  <a:pt x="433605" y="558800"/>
                  <a:pt x="2794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3A7BD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9B8C2652-7FBF-5C59-D20F-60961D5E9B2D}"/>
              </a:ext>
            </a:extLst>
          </p:cNvPr>
          <p:cNvSpPr/>
          <p:nvPr/>
        </p:nvSpPr>
        <p:spPr>
          <a:xfrm>
            <a:off x="5734050" y="271007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35F88BBD-324C-08CC-C88F-731058EFA93B}"/>
              </a:ext>
            </a:extLst>
          </p:cNvPr>
          <p:cNvSpPr/>
          <p:nvPr/>
        </p:nvSpPr>
        <p:spPr>
          <a:xfrm>
            <a:off x="9704917" y="2730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0"/>
                </a:moveTo>
                <a:lnTo>
                  <a:pt x="279400" y="0"/>
                </a:lnTo>
                <a:cubicBezTo>
                  <a:pt x="433605" y="0"/>
                  <a:pt x="558800" y="125195"/>
                  <a:pt x="558800" y="279400"/>
                </a:cubicBezTo>
                <a:lnTo>
                  <a:pt x="558800" y="279400"/>
                </a:lnTo>
                <a:cubicBezTo>
                  <a:pt x="558800" y="433605"/>
                  <a:pt x="433605" y="558800"/>
                  <a:pt x="2794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3A7BD5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F6BD1A51-9F73-A8B3-BB8A-1392EF28D43F}"/>
              </a:ext>
            </a:extLst>
          </p:cNvPr>
          <p:cNvSpPr/>
          <p:nvPr/>
        </p:nvSpPr>
        <p:spPr>
          <a:xfrm>
            <a:off x="9616017" y="270510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2032000"/>
            <a:ext cx="5829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40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一页总结：让中小企业轻松自动化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54000" y="3149600"/>
            <a:ext cx="572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方案以</a:t>
            </a:r>
            <a:r>
              <a:rPr lang="en-US" sz="1400" b="1" dirty="0">
                <a:solidFill>
                  <a:srgbClr val="3A7B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0.33㎡、8万元、±0.1mm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三大核心指标，直击人工移栽三大痛点，已通过32家工厂验证并获3台订单。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346075" y="39031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660400" y="3860800"/>
            <a:ext cx="412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团队18人，样板客户良率提升6%，回收期10个月。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46075" y="42587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60400" y="421640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三年销售300台、收入2.4亿、净利720万。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46075" y="4614333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3A7BD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660400" y="4572000"/>
            <a:ext cx="332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第五年IPO或并购退出，预期</a:t>
            </a:r>
            <a:r>
              <a:rPr lang="en-US" sz="1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6-8倍</a:t>
            </a:r>
            <a:r>
              <a:rPr lang="en-US" sz="1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回报。</a:t>
            </a:r>
            <a:endParaRPr lang="en-US" sz="1600" dirty="0"/>
          </a:p>
        </p:txBody>
      </p:sp>
      <p:pic>
        <p:nvPicPr>
          <p:cNvPr id="12" name="Image 2" descr="https://kimi-web-img.moonshot.cn/img/thumbs.dreamstime.com/d6fd7b090148898360c2608da9ab39c1186c5b4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0" y="254000"/>
            <a:ext cx="5638800" cy="6350000"/>
          </a:xfrm>
          <a:prstGeom prst="roundRect">
            <a:avLst>
              <a:gd name="adj" fmla="val 1802"/>
            </a:avLst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3"/>
          <a:srcRect l="6625" t="8858" r="11055" b="15857"/>
          <a:stretch/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410" y="2195830"/>
            <a:ext cx="7026275" cy="13589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8800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0890" y="3501390"/>
            <a:ext cx="471678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 FOR WATCHING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" y="1730375"/>
            <a:ext cx="6468110" cy="298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3600" y="4795520"/>
            <a:ext cx="217932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28675" y="4847590"/>
            <a:ext cx="2249805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汇报人:Kimi AI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519170" y="4795520"/>
            <a:ext cx="217932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84245" y="4847590"/>
            <a:ext cx="2249805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时间:2025/01/01</a:t>
            </a:r>
            <a:endParaRPr lang="en-US" sz="1600" dirty="0"/>
          </a:p>
        </p:txBody>
      </p:sp>
      <p:pic>
        <p:nvPicPr>
          <p:cNvPr id="12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7364095" y="1974850"/>
            <a:ext cx="4268470" cy="33235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1744</Words>
  <Application>Microsoft Office PowerPoint</Application>
  <PresentationFormat>宽屏</PresentationFormat>
  <Paragraphs>224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MiSans</vt:lpstr>
      <vt:lpstr>Arial</vt:lpstr>
      <vt:lpstr>Noto Sans SC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手机后盖移栽自动化解决方案</dc:title>
  <dc:subject>手机后盖移栽自动化解决方案</dc:subject>
  <dc:creator>Kimi</dc:creator>
  <cp:lastModifiedBy>2 0</cp:lastModifiedBy>
  <cp:revision>2</cp:revision>
  <dcterms:created xsi:type="dcterms:W3CDTF">2025-12-21T09:09:32Z</dcterms:created>
  <dcterms:modified xsi:type="dcterms:W3CDTF">2025-12-21T10:51:39Z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{"Label":"手机后盖移栽自动化解决方案","ContentProducer":"001191110108MACG2KBH8F10000","ProduceID":"d53qheuuvalrgg9ccci0","ReservedCode1":"","ContentPropagator":"001191110108MACG2KBH8F20000","PropagateID":"d53qheuuvalrgg9ccci0","ReservedCode2":""}</vt:lpwstr>
  </property>
</Properties>
</file>